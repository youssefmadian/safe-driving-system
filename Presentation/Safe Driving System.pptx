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2" r:id="rId6"/>
    <p:sldId id="277" r:id="rId7"/>
    <p:sldId id="263" r:id="rId8"/>
    <p:sldId id="270" r:id="rId9"/>
    <p:sldId id="267" r:id="rId10"/>
    <p:sldId id="269" r:id="rId11"/>
    <p:sldId id="268" r:id="rId12"/>
    <p:sldId id="266" r:id="rId13"/>
    <p:sldId id="341" r:id="rId14"/>
    <p:sldId id="273" r:id="rId15"/>
    <p:sldId id="294" r:id="rId16"/>
    <p:sldId id="343" r:id="rId17"/>
    <p:sldId id="342" r:id="rId18"/>
    <p:sldId id="274" r:id="rId19"/>
    <p:sldId id="275" r:id="rId20"/>
    <p:sldId id="278" r:id="rId21"/>
    <p:sldId id="279" r:id="rId22"/>
    <p:sldId id="280" r:id="rId23"/>
    <p:sldId id="281" r:id="rId24"/>
    <p:sldId id="282" r:id="rId25"/>
    <p:sldId id="283" r:id="rId26"/>
    <p:sldId id="285" r:id="rId27"/>
    <p:sldId id="348" r:id="rId28"/>
    <p:sldId id="284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5" r:id="rId37"/>
    <p:sldId id="296" r:id="rId38"/>
    <p:sldId id="302" r:id="rId39"/>
    <p:sldId id="297" r:id="rId40"/>
    <p:sldId id="299" r:id="rId41"/>
    <p:sldId id="300" r:id="rId42"/>
    <p:sldId id="301" r:id="rId43"/>
    <p:sldId id="344" r:id="rId44"/>
    <p:sldId id="346" r:id="rId45"/>
    <p:sldId id="345" r:id="rId46"/>
    <p:sldId id="347" r:id="rId47"/>
    <p:sldId id="303" r:id="rId48"/>
    <p:sldId id="305" r:id="rId49"/>
    <p:sldId id="306" r:id="rId50"/>
    <p:sldId id="331" r:id="rId51"/>
    <p:sldId id="332" r:id="rId52"/>
    <p:sldId id="333" r:id="rId53"/>
    <p:sldId id="334" r:id="rId54"/>
    <p:sldId id="335" r:id="rId55"/>
    <p:sldId id="336" r:id="rId56"/>
    <p:sldId id="337" r:id="rId57"/>
    <p:sldId id="314" r:id="rId58"/>
    <p:sldId id="326" r:id="rId59"/>
    <p:sldId id="329" r:id="rId60"/>
    <p:sldId id="30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38" r:id="rId69"/>
    <p:sldId id="322" r:id="rId70"/>
    <p:sldId id="323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5B26"/>
    <a:srgbClr val="292E6B"/>
    <a:srgbClr val="5B5F8E"/>
    <a:srgbClr val="222564"/>
    <a:srgbClr val="0F7391"/>
    <a:srgbClr val="00B0F0"/>
    <a:srgbClr val="203864"/>
    <a:srgbClr val="9DC3E6"/>
    <a:srgbClr val="5B9BD5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35" autoAdjust="0"/>
    <p:restoredTop sz="93905" autoAdjust="0"/>
  </p:normalViewPr>
  <p:slideViewPr>
    <p:cSldViewPr snapToGrid="0">
      <p:cViewPr varScale="1">
        <p:scale>
          <a:sx n="89" d="100"/>
          <a:sy n="89" d="100"/>
        </p:scale>
        <p:origin x="66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20386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2C9E-4A3F-9C20-A1EF60E0AE9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FFC-4311-BB75-DE1DD1AAB5B0}"/>
              </c:ext>
            </c:extLst>
          </c:dPt>
          <c:dPt>
            <c:idx val="2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C9E-4A3F-9C20-A1EF60E0AE93}"/>
              </c:ext>
            </c:extLst>
          </c:dPt>
          <c:dPt>
            <c:idx val="3"/>
            <c:bubble3D val="0"/>
            <c:spPr>
              <a:solidFill>
                <a:srgbClr val="EB5B2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C9E-4A3F-9C20-A1EF60E0AE93}"/>
              </c:ext>
            </c:extLst>
          </c:dPt>
          <c:dPt>
            <c:idx val="4"/>
            <c:bubble3D val="0"/>
            <c:spPr>
              <a:solidFill>
                <a:srgbClr val="EB5B2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C9E-4A3F-9C20-A1EF60E0AE93}"/>
              </c:ext>
            </c:extLst>
          </c:dPt>
          <c:cat>
            <c:strRef>
              <c:f>Sheet1!$A$2:$A$5</c:f>
              <c:strCache>
                <c:ptCount val="4"/>
                <c:pt idx="0">
                  <c:v>People Alive</c:v>
                </c:pt>
                <c:pt idx="2">
                  <c:v>Traffic Death due to Health Problem</c:v>
                </c:pt>
                <c:pt idx="3">
                  <c:v>Traffic Death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7.88</c:v>
                </c:pt>
                <c:pt idx="2">
                  <c:v>1.6E-2</c:v>
                </c:pt>
                <c:pt idx="3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9E-4A3F-9C20-A1EF60E0AE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62"/>
        <c:splitType val="cust"/>
        <c:custSplit>
          <c:secondPiePt val="2"/>
          <c:secondPiePt val="3"/>
        </c:custSplit>
        <c:secondPieSize val="51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203864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delete val="1"/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EB5B2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6EF4E-6B04-494B-938C-7DE84BD35139}" type="datetimeFigureOut">
              <a:rPr lang="en-US" smtClean="0"/>
              <a:t>15-Jul-23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81C8F-73EF-4B32-BAB3-8046B947F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82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67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18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25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26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97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73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88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24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10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87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75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620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933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16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13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80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897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470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609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50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247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185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755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227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239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170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480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150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109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721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407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445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850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832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255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793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381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555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684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465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8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266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025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806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006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584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366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130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039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67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6523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490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7401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7164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9933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8028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3528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81C8F-73EF-4B32-BAB3-8046B947F029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06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043F-7651-40E8-A10E-7A09E9B1DBD0}" type="datetimeFigureOut">
              <a:rPr lang="en-US" smtClean="0"/>
              <a:t>15-Jul-23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26872-B75B-4307-8F31-8FE173193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3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043F-7651-40E8-A10E-7A09E9B1DBD0}" type="datetimeFigureOut">
              <a:rPr lang="en-US" smtClean="0"/>
              <a:t>15-Jul-23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26872-B75B-4307-8F31-8FE173193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64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043F-7651-40E8-A10E-7A09E9B1DBD0}" type="datetimeFigureOut">
              <a:rPr lang="en-US" smtClean="0"/>
              <a:t>15-Jul-23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26872-B75B-4307-8F31-8FE173193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10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043F-7651-40E8-A10E-7A09E9B1DBD0}" type="datetimeFigureOut">
              <a:rPr lang="en-US" smtClean="0"/>
              <a:t>15-Jul-23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26872-B75B-4307-8F31-8FE173193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3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043F-7651-40E8-A10E-7A09E9B1DBD0}" type="datetimeFigureOut">
              <a:rPr lang="en-US" smtClean="0"/>
              <a:t>15-Jul-23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26872-B75B-4307-8F31-8FE173193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36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043F-7651-40E8-A10E-7A09E9B1DBD0}" type="datetimeFigureOut">
              <a:rPr lang="en-US" smtClean="0"/>
              <a:t>15-Jul-23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26872-B75B-4307-8F31-8FE173193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98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043F-7651-40E8-A10E-7A09E9B1DBD0}" type="datetimeFigureOut">
              <a:rPr lang="en-US" smtClean="0"/>
              <a:t>15-Jul-23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26872-B75B-4307-8F31-8FE173193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16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043F-7651-40E8-A10E-7A09E9B1DBD0}" type="datetimeFigureOut">
              <a:rPr lang="en-US" smtClean="0"/>
              <a:t>15-Jul-23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26872-B75B-4307-8F31-8FE173193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5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043F-7651-40E8-A10E-7A09E9B1DBD0}" type="datetimeFigureOut">
              <a:rPr lang="en-US" smtClean="0"/>
              <a:t>15-Jul-23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26872-B75B-4307-8F31-8FE173193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60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043F-7651-40E8-A10E-7A09E9B1DBD0}" type="datetimeFigureOut">
              <a:rPr lang="en-US" smtClean="0"/>
              <a:t>15-Jul-23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26872-B75B-4307-8F31-8FE173193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2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C043F-7651-40E8-A10E-7A09E9B1DBD0}" type="datetimeFigureOut">
              <a:rPr lang="en-US" smtClean="0"/>
              <a:t>15-Jul-23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26872-B75B-4307-8F31-8FE173193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79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C043F-7651-40E8-A10E-7A09E9B1DBD0}" type="datetimeFigureOut">
              <a:rPr lang="en-US" smtClean="0"/>
              <a:t>15-Jul-23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26872-B75B-4307-8F31-8FE173193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36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11" Type="http://schemas.openxmlformats.org/officeDocument/2006/relationships/image" Target="../media/image2.png"/><Relationship Id="rId5" Type="http://schemas.openxmlformats.org/officeDocument/2006/relationships/image" Target="../media/image21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1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hyperlink" Target="https://www.circuitbasics.com/wp-content/uploads/2016/01/Introduction-to-I2C-Message-Frame-and-Bit-2.png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363411"/>
            <a:ext cx="12192000" cy="935039"/>
          </a:xfrm>
        </p:spPr>
        <p:txBody>
          <a:bodyPr>
            <a:noAutofit/>
          </a:bodyPr>
          <a:lstStyle/>
          <a:p>
            <a:r>
              <a:rPr lang="en-US" sz="72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Safe Driving System</a:t>
            </a:r>
            <a:endParaRPr lang="en-US" sz="72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0399" y="4298450"/>
            <a:ext cx="8331200" cy="407879"/>
          </a:xfrm>
        </p:spPr>
        <p:txBody>
          <a:bodyPr>
            <a:noAutofit/>
          </a:bodyPr>
          <a:lstStyle/>
          <a:p>
            <a:r>
              <a:rPr lang="en-US" sz="3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Graduation Project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303" y="898194"/>
            <a:ext cx="4957391" cy="2083478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/>
        </p:nvSpPr>
        <p:spPr>
          <a:xfrm>
            <a:off x="1930399" y="4706329"/>
            <a:ext cx="8331200" cy="3115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2023</a:t>
            </a:r>
            <a:endParaRPr lang="en-US" sz="3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53" y="5920768"/>
            <a:ext cx="2336693" cy="74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4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933411"/>
            <a:ext cx="12192000" cy="97105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Supervisor</a:t>
            </a:r>
            <a:endParaRPr lang="en-US" sz="36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261" y="1925134"/>
            <a:ext cx="2587476" cy="2587476"/>
          </a:xfrm>
          <a:prstGeom prst="rect">
            <a:avLst/>
          </a:prstGeom>
        </p:spPr>
      </p:pic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0" y="4692150"/>
            <a:ext cx="12192000" cy="407879"/>
          </a:xfrm>
        </p:spPr>
        <p:txBody>
          <a:bodyPr>
            <a:noAutofit/>
          </a:bodyPr>
          <a:lstStyle/>
          <a:p>
            <a:r>
              <a:rPr lang="en-US" sz="3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Prof. Amir Salah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53" y="5920768"/>
            <a:ext cx="2336693" cy="74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22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25565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Team Members</a:t>
            </a:r>
            <a:endParaRPr lang="en-US" sz="36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1018843" y="2826220"/>
            <a:ext cx="3060700" cy="407879"/>
          </a:xfrm>
        </p:spPr>
        <p:txBody>
          <a:bodyPr>
            <a:no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Youssef Madian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408" y="3750052"/>
            <a:ext cx="1906185" cy="19061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401" y="3750050"/>
            <a:ext cx="1906189" cy="19061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020" y="872627"/>
            <a:ext cx="1906183" cy="19061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214" y="2026176"/>
            <a:ext cx="1906185" cy="19061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408" y="872627"/>
            <a:ext cx="1906185" cy="1906185"/>
          </a:xfrm>
          <a:prstGeom prst="rect">
            <a:avLst/>
          </a:prstGeom>
        </p:spPr>
      </p:pic>
      <p:sp>
        <p:nvSpPr>
          <p:cNvPr id="12" name="Subtitle 2"/>
          <p:cNvSpPr txBox="1">
            <a:spLocks/>
          </p:cNvSpPr>
          <p:nvPr/>
        </p:nvSpPr>
        <p:spPr>
          <a:xfrm>
            <a:off x="1018843" y="5743013"/>
            <a:ext cx="3060700" cy="4078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Mohamed Salah</a:t>
            </a:r>
            <a:endParaRPr lang="en-US" sz="2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3" name="Subtitle 2"/>
          <p:cNvSpPr txBox="1">
            <a:spLocks/>
          </p:cNvSpPr>
          <p:nvPr/>
        </p:nvSpPr>
        <p:spPr>
          <a:xfrm>
            <a:off x="8112454" y="5743012"/>
            <a:ext cx="3060700" cy="4078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Moemen El-</a:t>
            </a:r>
            <a:r>
              <a:rPr lang="en-US" sz="2000" dirty="0" err="1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Shazly</a:t>
            </a:r>
            <a:endParaRPr lang="en-US" sz="2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8112454" y="2826219"/>
            <a:ext cx="3060700" cy="4078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Asem Hefny</a:t>
            </a:r>
            <a:endParaRPr lang="en-US" sz="2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4565649" y="3951774"/>
            <a:ext cx="3060700" cy="4078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Mohamed Fathy</a:t>
            </a:r>
            <a:endParaRPr lang="en-US" sz="2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53" y="5920768"/>
            <a:ext cx="2336693" cy="74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3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45" t="3435" b="5222"/>
          <a:stretch/>
        </p:blipFill>
        <p:spPr>
          <a:xfrm>
            <a:off x="-16329" y="-16329"/>
            <a:ext cx="12208329" cy="689065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2424426"/>
            <a:ext cx="12192000" cy="1071917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Why Do We Need </a:t>
            </a:r>
            <a:r>
              <a:rPr lang="en-US" sz="4800" b="1" dirty="0" smtClean="0">
                <a:solidFill>
                  <a:schemeClr val="accent5">
                    <a:lumMod val="50000"/>
                  </a:schemeClr>
                </a:solidFill>
                <a:latin typeface="Cairo" pitchFamily="2" charset="-78"/>
                <a:cs typeface="Cairo" pitchFamily="2" charset="-78"/>
              </a:rPr>
              <a:t>“Safe Driving System” </a:t>
            </a:r>
            <a:r>
              <a:rPr lang="en-US" sz="4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?</a:t>
            </a:r>
            <a:endParaRPr lang="en-US" sz="48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53" y="5920768"/>
            <a:ext cx="2336693" cy="74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5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305" y="0"/>
            <a:ext cx="5545420" cy="1071917"/>
          </a:xfrm>
        </p:spPr>
        <p:txBody>
          <a:bodyPr>
            <a:noAutofit/>
          </a:bodyPr>
          <a:lstStyle/>
          <a:p>
            <a:pPr algn="l"/>
            <a:r>
              <a:rPr lang="en-US" sz="35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Problem Statement</a:t>
            </a:r>
            <a:endParaRPr lang="en-US" sz="35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5" y="5920768"/>
            <a:ext cx="2336693" cy="74298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30306" y="1071918"/>
            <a:ext cx="5545419" cy="9827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Every day, millions of people get behind the wheel, but what happens when a driver</a:t>
            </a:r>
            <a:r>
              <a:rPr lang="ar-EG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experiences a sudden health issue?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16" b="5555"/>
          <a:stretch/>
        </p:blipFill>
        <p:spPr>
          <a:xfrm>
            <a:off x="5875725" y="0"/>
            <a:ext cx="63162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21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304" y="0"/>
            <a:ext cx="11861696" cy="1071917"/>
          </a:xfrm>
        </p:spPr>
        <p:txBody>
          <a:bodyPr>
            <a:noAutofit/>
          </a:bodyPr>
          <a:lstStyle/>
          <a:p>
            <a:pPr algn="l"/>
            <a:r>
              <a:rPr lang="en-US" sz="35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Statistics </a:t>
            </a:r>
            <a:r>
              <a:rPr lang="en-US" sz="35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On Deaths And Accidents</a:t>
            </a:r>
            <a:endParaRPr lang="en-US" sz="35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5" y="5920768"/>
            <a:ext cx="2336693" cy="74298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30306" y="1071917"/>
            <a:ext cx="11582294" cy="17855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Globally, an estimated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1.6 </a:t>
            </a:r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million people die each year in road traffic crashes. Of these, up to 10% 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(130,000) are believed to be the result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of drivers </a:t>
            </a:r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experiencing a health problem while driving.</a:t>
            </a:r>
          </a:p>
          <a:p>
            <a:pPr algn="l"/>
            <a:endParaRPr lang="en-US" sz="2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  <a:p>
            <a:pPr algn="l"/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The leading health problems that commonly cause drivers to be involved in accidents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are:</a:t>
            </a:r>
            <a:endParaRPr lang="en-US" sz="2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  <a:p>
            <a:pPr algn="l"/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[Sudden </a:t>
            </a:r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cardiac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arrest-Stroke-Diabetes-Seizures]</a:t>
            </a:r>
            <a:endParaRPr lang="en-US" sz="2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  <a:p>
            <a:pPr algn="l"/>
            <a:endParaRPr lang="en-US" sz="2000" dirty="0" smtClean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91366" y="2857499"/>
            <a:ext cx="5495626" cy="362900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3005006185"/>
              </p:ext>
            </p:extLst>
          </p:nvPr>
        </p:nvGraphicFramePr>
        <p:xfrm>
          <a:off x="6316418" y="2994968"/>
          <a:ext cx="5470573" cy="3391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Title 1"/>
          <p:cNvSpPr txBox="1">
            <a:spLocks/>
          </p:cNvSpPr>
          <p:nvPr/>
        </p:nvSpPr>
        <p:spPr>
          <a:xfrm>
            <a:off x="9259048" y="4340894"/>
            <a:ext cx="1385759" cy="552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EB5B26"/>
                </a:solidFill>
                <a:latin typeface="Cairo" pitchFamily="2" charset="-78"/>
                <a:cs typeface="Cairo" pitchFamily="2" charset="-78"/>
              </a:rPr>
              <a:t>1.6 Million</a:t>
            </a:r>
            <a:endParaRPr lang="en-US" sz="1400" dirty="0">
              <a:solidFill>
                <a:srgbClr val="EB5B26"/>
              </a:solidFill>
              <a:latin typeface="Cairo" pitchFamily="2" charset="-78"/>
              <a:cs typeface="Cairo" pitchFamily="2" charset="-78"/>
            </a:endParaRPr>
          </a:p>
          <a:p>
            <a:pPr algn="l"/>
            <a:endParaRPr lang="en-US" sz="1400" dirty="0" smtClean="0">
              <a:solidFill>
                <a:srgbClr val="EB5B26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6731106" y="4571373"/>
            <a:ext cx="1035032" cy="3219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7.88 Billion</a:t>
            </a:r>
            <a:endParaRPr lang="en-US" sz="14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  <a:p>
            <a:pPr algn="l"/>
            <a:endParaRPr lang="en-US" sz="1400" dirty="0" smtClean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0487403" y="5230241"/>
            <a:ext cx="1385759" cy="552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00B0F0"/>
                </a:solidFill>
                <a:latin typeface="Cairo" pitchFamily="2" charset="-78"/>
                <a:cs typeface="Cairo" pitchFamily="2" charset="-78"/>
              </a:rPr>
              <a:t>130 Thousands</a:t>
            </a:r>
            <a:endParaRPr lang="en-US" sz="1400" dirty="0">
              <a:solidFill>
                <a:srgbClr val="00B0F0"/>
              </a:solidFill>
              <a:latin typeface="Cairo" pitchFamily="2" charset="-78"/>
              <a:cs typeface="Cairo" pitchFamily="2" charset="-78"/>
            </a:endParaRPr>
          </a:p>
          <a:p>
            <a:pPr algn="l"/>
            <a:endParaRPr lang="en-US" sz="1400" dirty="0" smtClean="0">
              <a:solidFill>
                <a:srgbClr val="00B0F0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70602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305" y="0"/>
            <a:ext cx="5545420" cy="1071917"/>
          </a:xfrm>
        </p:spPr>
        <p:txBody>
          <a:bodyPr>
            <a:noAutofit/>
          </a:bodyPr>
          <a:lstStyle/>
          <a:p>
            <a:pPr algn="l"/>
            <a:r>
              <a:rPr lang="en-US" sz="35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The Need For A Solution !</a:t>
            </a:r>
            <a:endParaRPr lang="en-US" sz="35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5" y="5920768"/>
            <a:ext cx="2336693" cy="7429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45" b="5371"/>
          <a:stretch/>
        </p:blipFill>
        <p:spPr>
          <a:xfrm>
            <a:off x="5875725" y="0"/>
            <a:ext cx="63162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21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304" y="0"/>
            <a:ext cx="11861696" cy="1071917"/>
          </a:xfrm>
        </p:spPr>
        <p:txBody>
          <a:bodyPr>
            <a:noAutofit/>
          </a:bodyPr>
          <a:lstStyle/>
          <a:p>
            <a:pPr algn="l"/>
            <a:r>
              <a:rPr lang="en-US" sz="35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Introduction </a:t>
            </a:r>
            <a:r>
              <a:rPr lang="en-US" sz="35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</a:t>
            </a:r>
            <a:r>
              <a:rPr lang="en-US" sz="35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bout The Safe Driving System</a:t>
            </a:r>
            <a:endParaRPr lang="en-US" sz="35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5" y="5920768"/>
            <a:ext cx="2336693" cy="74298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30306" y="1071918"/>
            <a:ext cx="11861694" cy="6630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This is where our solution </a:t>
            </a:r>
            <a:r>
              <a:rPr lang="en-US" sz="20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“Safe Driving System”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comes in. It's a three-part system consisting of a mobile </a:t>
            </a:r>
          </a:p>
          <a:p>
            <a:pPr algn="l"/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application and a wearable health device beside the hardware part in the simulator car.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985756" y="1929176"/>
            <a:ext cx="7507744" cy="3991592"/>
            <a:chOff x="2666998" y="763473"/>
            <a:chExt cx="7942918" cy="4324009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4517" y="763473"/>
              <a:ext cx="1796040" cy="1777806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8116" y="3304751"/>
              <a:ext cx="4241800" cy="1782731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6998" y="3304752"/>
              <a:ext cx="1034120" cy="1777806"/>
            </a:xfrm>
            <a:prstGeom prst="rect">
              <a:avLst/>
            </a:prstGeom>
          </p:spPr>
        </p:pic>
        <p:cxnSp>
          <p:nvCxnSpPr>
            <p:cNvPr id="13" name="Curved Connector 12"/>
            <p:cNvCxnSpPr>
              <a:stCxn id="10" idx="1"/>
              <a:endCxn id="12" idx="0"/>
            </p:cNvCxnSpPr>
            <p:nvPr/>
          </p:nvCxnSpPr>
          <p:spPr>
            <a:xfrm rot="10800000" flipV="1">
              <a:off x="3184059" y="1652376"/>
              <a:ext cx="1540459" cy="1652376"/>
            </a:xfrm>
            <a:prstGeom prst="curvedConnector2">
              <a:avLst/>
            </a:prstGeom>
            <a:ln w="76200" cap="flat" cmpd="sng" algn="ctr">
              <a:solidFill>
                <a:schemeClr val="bg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Curved Connector 13"/>
            <p:cNvCxnSpPr>
              <a:endCxn id="11" idx="1"/>
            </p:cNvCxnSpPr>
            <p:nvPr/>
          </p:nvCxnSpPr>
          <p:spPr>
            <a:xfrm>
              <a:off x="3708400" y="4191000"/>
              <a:ext cx="2659716" cy="5117"/>
            </a:xfrm>
            <a:prstGeom prst="curvedConnector3">
              <a:avLst/>
            </a:prstGeom>
            <a:ln w="76200" cap="flat" cmpd="sng" algn="ctr">
              <a:solidFill>
                <a:schemeClr val="bg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Curved Connector 14"/>
            <p:cNvCxnSpPr>
              <a:endCxn id="11" idx="0"/>
            </p:cNvCxnSpPr>
            <p:nvPr/>
          </p:nvCxnSpPr>
          <p:spPr>
            <a:xfrm>
              <a:off x="6515100" y="1625600"/>
              <a:ext cx="1973916" cy="1679151"/>
            </a:xfrm>
            <a:prstGeom prst="curvedConnector2">
              <a:avLst/>
            </a:prstGeom>
            <a:ln w="76200" cap="flat" cmpd="sng" algn="ctr">
              <a:solidFill>
                <a:schemeClr val="bg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660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304" y="0"/>
            <a:ext cx="11861696" cy="1071917"/>
          </a:xfrm>
        </p:spPr>
        <p:txBody>
          <a:bodyPr>
            <a:noAutofit/>
          </a:bodyPr>
          <a:lstStyle/>
          <a:p>
            <a:pPr algn="l"/>
            <a:r>
              <a:rPr lang="en-US" sz="35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Introduction </a:t>
            </a:r>
            <a:r>
              <a:rPr lang="en-US" sz="35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</a:t>
            </a:r>
            <a:r>
              <a:rPr lang="en-US" sz="35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bout The Safe Driving System</a:t>
            </a:r>
            <a:endParaRPr lang="en-US" sz="35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5" y="5920768"/>
            <a:ext cx="2336693" cy="74298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30305" y="1071917"/>
            <a:ext cx="8168235" cy="10997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The mobile application serves as the central hub, providing a user-friendly interface for drivers to interact with various features and receive vital health status information.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1" y="2065153"/>
            <a:ext cx="2053356" cy="344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1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304" y="0"/>
            <a:ext cx="11861696" cy="1071917"/>
          </a:xfrm>
        </p:spPr>
        <p:txBody>
          <a:bodyPr>
            <a:noAutofit/>
          </a:bodyPr>
          <a:lstStyle/>
          <a:p>
            <a:pPr algn="l"/>
            <a:r>
              <a:rPr lang="en-US" sz="35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Introduction </a:t>
            </a:r>
            <a:r>
              <a:rPr lang="en-US" sz="35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</a:t>
            </a:r>
            <a:r>
              <a:rPr lang="en-US" sz="35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bout The Safe Driving System</a:t>
            </a:r>
            <a:endParaRPr lang="en-US" sz="35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5" y="5920768"/>
            <a:ext cx="2336693" cy="74298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30306" y="1071917"/>
            <a:ext cx="11861694" cy="94017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The wearable health device, on the other hand, monitors vital signs such as hearth rate and blood pressure and send this information to the mobile application.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953" y="2012088"/>
            <a:ext cx="3545892" cy="342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4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304" y="0"/>
            <a:ext cx="11861696" cy="1071917"/>
          </a:xfrm>
        </p:spPr>
        <p:txBody>
          <a:bodyPr>
            <a:noAutofit/>
          </a:bodyPr>
          <a:lstStyle/>
          <a:p>
            <a:pPr algn="l"/>
            <a:r>
              <a:rPr lang="en-US" sz="35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Introduction </a:t>
            </a:r>
            <a:r>
              <a:rPr lang="en-US" sz="35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</a:t>
            </a:r>
            <a:r>
              <a:rPr lang="en-US" sz="35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bout The Safe Driving System</a:t>
            </a:r>
            <a:endParaRPr lang="en-US" sz="35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5" y="5920768"/>
            <a:ext cx="2336693" cy="74298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30305" y="1071918"/>
            <a:ext cx="11384773" cy="10819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The </a:t>
            </a:r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modified hardware in the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simulator car </a:t>
            </a:r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allows us to automatically control the car through the application after a health defect occurs, where the car is stopped and distress messages are sent to the specified emergency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numbers</a:t>
            </a:r>
            <a:r>
              <a:rPr lang="ar-EG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.</a:t>
            </a:r>
            <a:endParaRPr lang="en-US" sz="2000" dirty="0" smtClean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321" y="2669990"/>
            <a:ext cx="7016379" cy="287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6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53" y="5920768"/>
            <a:ext cx="2336693" cy="742987"/>
          </a:xfrm>
          <a:prstGeom prst="rect">
            <a:avLst/>
          </a:prstGeom>
        </p:spPr>
      </p:pic>
      <p:sp>
        <p:nvSpPr>
          <p:cNvPr id="26" name="Title 1"/>
          <p:cNvSpPr>
            <a:spLocks noGrp="1"/>
          </p:cNvSpPr>
          <p:nvPr>
            <p:ph type="ctrTitle"/>
          </p:nvPr>
        </p:nvSpPr>
        <p:spPr>
          <a:xfrm>
            <a:off x="3429000" y="0"/>
            <a:ext cx="5334000" cy="796066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Project Overview</a:t>
            </a:r>
            <a:endParaRPr lang="en-US" sz="40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3843653" y="1602210"/>
            <a:ext cx="7582237" cy="3653580"/>
            <a:chOff x="4351653" y="1602210"/>
            <a:chExt cx="7582237" cy="3653580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1653" y="1602210"/>
              <a:ext cx="7582237" cy="3653580"/>
            </a:xfrm>
            <a:prstGeom prst="rect">
              <a:avLst/>
            </a:prstGeom>
          </p:spPr>
        </p:pic>
        <p:sp>
          <p:nvSpPr>
            <p:cNvPr id="29" name="Title 1"/>
            <p:cNvSpPr txBox="1">
              <a:spLocks/>
            </p:cNvSpPr>
            <p:nvPr/>
          </p:nvSpPr>
          <p:spPr>
            <a:xfrm>
              <a:off x="4548503" y="3225800"/>
              <a:ext cx="1009650" cy="342900"/>
            </a:xfrm>
            <a:prstGeom prst="rect">
              <a:avLst/>
            </a:prstGeom>
            <a:solidFill>
              <a:srgbClr val="292E6B"/>
            </a:solidFill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b="1" dirty="0" smtClean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ESP8266</a:t>
              </a:r>
              <a:endParaRPr lang="en-US" sz="16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endParaRPr>
            </a:p>
          </p:txBody>
        </p:sp>
        <p:sp>
          <p:nvSpPr>
            <p:cNvPr id="34" name="Title 1"/>
            <p:cNvSpPr txBox="1">
              <a:spLocks/>
            </p:cNvSpPr>
            <p:nvPr/>
          </p:nvSpPr>
          <p:spPr>
            <a:xfrm>
              <a:off x="6110549" y="3225800"/>
              <a:ext cx="1009650" cy="342900"/>
            </a:xfrm>
            <a:prstGeom prst="rect">
              <a:avLst/>
            </a:prstGeom>
            <a:solidFill>
              <a:srgbClr val="292E6B"/>
            </a:solidFill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b="1" dirty="0" smtClean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Arduino</a:t>
              </a:r>
              <a:endParaRPr lang="en-US" sz="16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endParaRPr>
            </a:p>
          </p:txBody>
        </p:sp>
        <p:sp>
          <p:nvSpPr>
            <p:cNvPr id="35" name="Title 1"/>
            <p:cNvSpPr txBox="1">
              <a:spLocks/>
            </p:cNvSpPr>
            <p:nvPr/>
          </p:nvSpPr>
          <p:spPr>
            <a:xfrm>
              <a:off x="8041232" y="2560822"/>
              <a:ext cx="1670326" cy="342900"/>
            </a:xfrm>
            <a:prstGeom prst="rect">
              <a:avLst/>
            </a:prstGeom>
            <a:solidFill>
              <a:srgbClr val="292E6B"/>
            </a:solidFill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b="1" dirty="0" smtClean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Servo Motor180 </a:t>
              </a:r>
              <a:endParaRPr lang="en-US" sz="16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endParaRPr>
            </a:p>
          </p:txBody>
        </p:sp>
        <p:sp>
          <p:nvSpPr>
            <p:cNvPr id="36" name="Title 1"/>
            <p:cNvSpPr txBox="1">
              <a:spLocks/>
            </p:cNvSpPr>
            <p:nvPr/>
          </p:nvSpPr>
          <p:spPr>
            <a:xfrm>
              <a:off x="8041232" y="2978150"/>
              <a:ext cx="1670326" cy="342900"/>
            </a:xfrm>
            <a:prstGeom prst="rect">
              <a:avLst/>
            </a:prstGeom>
            <a:solidFill>
              <a:srgbClr val="292E6B"/>
            </a:solidFill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b="1" dirty="0" smtClean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DC Motor</a:t>
              </a:r>
              <a:endParaRPr lang="en-US" sz="16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endParaRPr>
            </a:p>
          </p:txBody>
        </p:sp>
        <p:sp>
          <p:nvSpPr>
            <p:cNvPr id="37" name="Title 1"/>
            <p:cNvSpPr txBox="1">
              <a:spLocks/>
            </p:cNvSpPr>
            <p:nvPr/>
          </p:nvSpPr>
          <p:spPr>
            <a:xfrm>
              <a:off x="8041232" y="3397250"/>
              <a:ext cx="1670326" cy="342900"/>
            </a:xfrm>
            <a:prstGeom prst="rect">
              <a:avLst/>
            </a:prstGeom>
            <a:solidFill>
              <a:srgbClr val="292E6B"/>
            </a:solidFill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b="1" dirty="0" smtClean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L298d H-Bridge</a:t>
              </a:r>
              <a:endParaRPr lang="en-US" sz="16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endParaRPr>
            </a:p>
          </p:txBody>
        </p:sp>
        <p:sp>
          <p:nvSpPr>
            <p:cNvPr id="38" name="Title 1"/>
            <p:cNvSpPr txBox="1">
              <a:spLocks/>
            </p:cNvSpPr>
            <p:nvPr/>
          </p:nvSpPr>
          <p:spPr>
            <a:xfrm>
              <a:off x="8041232" y="3862334"/>
              <a:ext cx="1670326" cy="342900"/>
            </a:xfrm>
            <a:prstGeom prst="rect">
              <a:avLst/>
            </a:prstGeom>
            <a:solidFill>
              <a:srgbClr val="292E6B"/>
            </a:solidFill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400" b="1" dirty="0" smtClean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I2C Logic Converter</a:t>
              </a:r>
              <a:endParaRPr lang="en-US" sz="1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183342" y="508970"/>
            <a:ext cx="1688951" cy="5776559"/>
            <a:chOff x="1219371" y="495300"/>
            <a:chExt cx="1688951" cy="5776559"/>
          </a:xfrm>
        </p:grpSpPr>
        <p:grpSp>
          <p:nvGrpSpPr>
            <p:cNvPr id="59" name="Group 58"/>
            <p:cNvGrpSpPr/>
            <p:nvPr/>
          </p:nvGrpSpPr>
          <p:grpSpPr>
            <a:xfrm>
              <a:off x="1363413" y="3100809"/>
              <a:ext cx="1396227" cy="3171050"/>
              <a:chOff x="573344" y="3316709"/>
              <a:chExt cx="1396227" cy="3171050"/>
            </a:xfrm>
          </p:grpSpPr>
          <p:sp>
            <p:nvSpPr>
              <p:cNvPr id="46" name="Title 1"/>
              <p:cNvSpPr txBox="1">
                <a:spLocks/>
              </p:cNvSpPr>
              <p:nvPr/>
            </p:nvSpPr>
            <p:spPr>
              <a:xfrm>
                <a:off x="676962" y="6144859"/>
                <a:ext cx="1175656" cy="342900"/>
              </a:xfrm>
              <a:prstGeom prst="rect">
                <a:avLst/>
              </a:prstGeom>
              <a:solidFill>
                <a:srgbClr val="292E6B"/>
              </a:solidFill>
            </p:spPr>
            <p:txBody>
              <a:bodyPr vert="horz" lIns="91440" tIns="45720" rIns="91440" bIns="45720" rtlCol="0" anchor="b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600" b="1" dirty="0" smtClean="0">
                    <a:solidFill>
                      <a:schemeClr val="bg1"/>
                    </a:solidFill>
                    <a:latin typeface="Cairo" pitchFamily="2" charset="-78"/>
                    <a:cs typeface="Cairo" pitchFamily="2" charset="-78"/>
                  </a:rPr>
                  <a:t>Application</a:t>
                </a:r>
                <a:endParaRPr lang="en-US" sz="1600" b="1" dirty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endParaRPr>
              </a:p>
            </p:txBody>
          </p:sp>
          <p:pic>
            <p:nvPicPr>
              <p:cNvPr id="56" name="Picture 55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3344" y="3316709"/>
                <a:ext cx="1396227" cy="2785709"/>
              </a:xfrm>
              <a:prstGeom prst="rect">
                <a:avLst/>
              </a:prstGeom>
            </p:spPr>
          </p:pic>
        </p:grpSp>
        <p:grpSp>
          <p:nvGrpSpPr>
            <p:cNvPr id="58" name="Group 57"/>
            <p:cNvGrpSpPr/>
            <p:nvPr/>
          </p:nvGrpSpPr>
          <p:grpSpPr>
            <a:xfrm>
              <a:off x="1219371" y="495300"/>
              <a:ext cx="1688951" cy="2295641"/>
              <a:chOff x="429302" y="711200"/>
              <a:chExt cx="1688951" cy="2295641"/>
            </a:xfrm>
          </p:grpSpPr>
          <p:sp>
            <p:nvSpPr>
              <p:cNvPr id="45" name="Title 1"/>
              <p:cNvSpPr txBox="1">
                <a:spLocks/>
              </p:cNvSpPr>
              <p:nvPr/>
            </p:nvSpPr>
            <p:spPr>
              <a:xfrm>
                <a:off x="429302" y="2663941"/>
                <a:ext cx="1688951" cy="342900"/>
              </a:xfrm>
              <a:prstGeom prst="rect">
                <a:avLst/>
              </a:prstGeom>
              <a:solidFill>
                <a:srgbClr val="292E6B"/>
              </a:solidFill>
            </p:spPr>
            <p:txBody>
              <a:bodyPr vert="horz" lIns="91440" tIns="45720" rIns="91440" bIns="45720" rtlCol="0" anchor="b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600" b="1" dirty="0" smtClean="0">
                    <a:solidFill>
                      <a:schemeClr val="bg1"/>
                    </a:solidFill>
                    <a:latin typeface="Cairo" pitchFamily="2" charset="-78"/>
                    <a:cs typeface="Cairo" pitchFamily="2" charset="-78"/>
                  </a:rPr>
                  <a:t>Wearable Device</a:t>
                </a:r>
                <a:endParaRPr lang="en-US" sz="1600" b="1" dirty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endParaRPr>
              </a:p>
            </p:txBody>
          </p:sp>
          <p:pic>
            <p:nvPicPr>
              <p:cNvPr id="57" name="Picture 5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3879" y="711200"/>
                <a:ext cx="1341821" cy="18873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8313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6" name="Title 1"/>
          <p:cNvSpPr>
            <a:spLocks noGrp="1"/>
          </p:cNvSpPr>
          <p:nvPr>
            <p:ph type="ctrTitle"/>
          </p:nvPr>
        </p:nvSpPr>
        <p:spPr>
          <a:xfrm>
            <a:off x="330305" y="-1"/>
            <a:ext cx="2552744" cy="1097281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Outlines</a:t>
            </a:r>
            <a:endParaRPr lang="en-US" sz="48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787" y="382553"/>
            <a:ext cx="4434426" cy="60928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5" y="5920768"/>
            <a:ext cx="2336693" cy="74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00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0" y="2833072"/>
            <a:ext cx="12192000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Wearable Health Device</a:t>
            </a:r>
            <a:endParaRPr lang="en-US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53" y="5920768"/>
            <a:ext cx="2336693" cy="74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2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55002" y="1"/>
            <a:ext cx="5292763" cy="15491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Why </a:t>
            </a:r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Did We Use This Part ?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sp>
        <p:nvSpPr>
          <p:cNvPr id="25" name="Title 1"/>
          <p:cNvSpPr txBox="1">
            <a:spLocks/>
          </p:cNvSpPr>
          <p:nvPr/>
        </p:nvSpPr>
        <p:spPr>
          <a:xfrm>
            <a:off x="337006" y="2522413"/>
            <a:ext cx="5538719" cy="1027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Remotely, monitoring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the vital signs of the driver to early </a:t>
            </a:r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detection of health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problems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69" b="5622"/>
          <a:stretch/>
        </p:blipFill>
        <p:spPr>
          <a:xfrm>
            <a:off x="5901070" y="-7116"/>
            <a:ext cx="6308860" cy="6865116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0953667" y="-7116"/>
            <a:ext cx="1254369" cy="393992"/>
            <a:chOff x="10937631" y="0"/>
            <a:chExt cx="1254369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69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Wearable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805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55002" y="1"/>
            <a:ext cx="5292763" cy="8713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EX: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8" b="6093"/>
          <a:stretch/>
        </p:blipFill>
        <p:spPr>
          <a:xfrm>
            <a:off x="5889467" y="-7116"/>
            <a:ext cx="6318569" cy="6865116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0953667" y="-7116"/>
            <a:ext cx="1254369" cy="393992"/>
            <a:chOff x="10937631" y="0"/>
            <a:chExt cx="1254369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69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Wearable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9" name="Title 1"/>
          <p:cNvSpPr txBox="1">
            <a:spLocks/>
          </p:cNvSpPr>
          <p:nvPr/>
        </p:nvSpPr>
        <p:spPr>
          <a:xfrm>
            <a:off x="355002" y="957432"/>
            <a:ext cx="5292763" cy="8713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RFID Tags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355002" y="1914863"/>
            <a:ext cx="5292763" cy="8713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[RFID Tag Tattoo]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2167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0" y="2833072"/>
            <a:ext cx="12192000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Arduino Uno</a:t>
            </a:r>
            <a:endParaRPr lang="en-US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53" y="5920768"/>
            <a:ext cx="2336693" cy="74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79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85806" y="1682074"/>
            <a:ext cx="1423842" cy="1423842"/>
            <a:chOff x="485806" y="1682074"/>
            <a:chExt cx="1423842" cy="1423842"/>
          </a:xfrm>
        </p:grpSpPr>
        <p:sp>
          <p:nvSpPr>
            <p:cNvPr id="5" name="Oval 4"/>
            <p:cNvSpPr/>
            <p:nvPr/>
          </p:nvSpPr>
          <p:spPr>
            <a:xfrm>
              <a:off x="485806" y="1682074"/>
              <a:ext cx="1423842" cy="1423842"/>
            </a:xfrm>
            <a:prstGeom prst="ellipse">
              <a:avLst/>
            </a:prstGeom>
            <a:solidFill>
              <a:schemeClr val="bg1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 descr="Open Source"/>
            <p:cNvSpPr/>
            <p:nvPr/>
          </p:nvSpPr>
          <p:spPr>
            <a:xfrm>
              <a:off x="804137" y="1981081"/>
              <a:ext cx="825828" cy="825828"/>
            </a:xfrm>
            <a:prstGeom prst="rect">
              <a:avLst/>
            </a:prstGeom>
            <a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dgm="http://schemas.openxmlformats.org/drawingml/2006/diagram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8" name="Freeform 7"/>
          <p:cNvSpPr/>
          <p:nvPr/>
        </p:nvSpPr>
        <p:spPr>
          <a:xfrm>
            <a:off x="2033573" y="1682074"/>
            <a:ext cx="3356200" cy="1423842"/>
          </a:xfrm>
          <a:custGeom>
            <a:avLst/>
            <a:gdLst>
              <a:gd name="connsiteX0" fmla="*/ 0 w 3356200"/>
              <a:gd name="connsiteY0" fmla="*/ 0 h 1423842"/>
              <a:gd name="connsiteX1" fmla="*/ 3356200 w 3356200"/>
              <a:gd name="connsiteY1" fmla="*/ 0 h 1423842"/>
              <a:gd name="connsiteX2" fmla="*/ 3356200 w 3356200"/>
              <a:gd name="connsiteY2" fmla="*/ 1423842 h 1423842"/>
              <a:gd name="connsiteX3" fmla="*/ 0 w 3356200"/>
              <a:gd name="connsiteY3" fmla="*/ 1423842 h 1423842"/>
              <a:gd name="connsiteX4" fmla="*/ 0 w 3356200"/>
              <a:gd name="connsiteY4" fmla="*/ 0 h 14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6200" h="1423842">
                <a:moveTo>
                  <a:pt x="0" y="0"/>
                </a:moveTo>
                <a:lnTo>
                  <a:pt x="3356200" y="0"/>
                </a:lnTo>
                <a:lnTo>
                  <a:pt x="3356200" y="1423842"/>
                </a:lnTo>
                <a:lnTo>
                  <a:pt x="0" y="142384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lvl="0" algn="l" defTabSz="12446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kern="12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Open hardware </a:t>
            </a:r>
            <a:r>
              <a:rPr lang="en-US" sz="2400" b="1" kern="12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source</a:t>
            </a:r>
            <a:endParaRPr lang="en-US" sz="2400" b="1" kern="12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6155751" y="1682074"/>
            <a:ext cx="1423842" cy="1423842"/>
            <a:chOff x="6155751" y="1682074"/>
            <a:chExt cx="1423842" cy="1423842"/>
          </a:xfrm>
        </p:grpSpPr>
        <p:sp>
          <p:nvSpPr>
            <p:cNvPr id="9" name="Oval 8"/>
            <p:cNvSpPr/>
            <p:nvPr/>
          </p:nvSpPr>
          <p:spPr>
            <a:xfrm>
              <a:off x="6155751" y="1682074"/>
              <a:ext cx="1423842" cy="1423842"/>
            </a:xfrm>
            <a:prstGeom prst="ellipse">
              <a:avLst/>
            </a:prstGeom>
            <a:solidFill>
              <a:schemeClr val="bg1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Rectangle 9" descr="Devices"/>
            <p:cNvSpPr/>
            <p:nvPr/>
          </p:nvSpPr>
          <p:spPr>
            <a:xfrm>
              <a:off x="6454758" y="1981081"/>
              <a:ext cx="825828" cy="825828"/>
            </a:xfrm>
            <a:prstGeom prst="rect">
              <a:avLst/>
            </a:prstGeom>
            <a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dgm="http://schemas.openxmlformats.org/drawingml/2006/diagram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Freeform 10"/>
          <p:cNvSpPr/>
          <p:nvPr/>
        </p:nvSpPr>
        <p:spPr>
          <a:xfrm>
            <a:off x="7884703" y="1682074"/>
            <a:ext cx="3764502" cy="1423842"/>
          </a:xfrm>
          <a:custGeom>
            <a:avLst/>
            <a:gdLst>
              <a:gd name="connsiteX0" fmla="*/ 0 w 3356200"/>
              <a:gd name="connsiteY0" fmla="*/ 0 h 1423842"/>
              <a:gd name="connsiteX1" fmla="*/ 3356200 w 3356200"/>
              <a:gd name="connsiteY1" fmla="*/ 0 h 1423842"/>
              <a:gd name="connsiteX2" fmla="*/ 3356200 w 3356200"/>
              <a:gd name="connsiteY2" fmla="*/ 1423842 h 1423842"/>
              <a:gd name="connsiteX3" fmla="*/ 0 w 3356200"/>
              <a:gd name="connsiteY3" fmla="*/ 1423842 h 1423842"/>
              <a:gd name="connsiteX4" fmla="*/ 0 w 3356200"/>
              <a:gd name="connsiteY4" fmla="*/ 0 h 14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6200" h="1423842">
                <a:moveTo>
                  <a:pt x="0" y="0"/>
                </a:moveTo>
                <a:lnTo>
                  <a:pt x="3356200" y="0"/>
                </a:lnTo>
                <a:lnTo>
                  <a:pt x="3356200" y="1423842"/>
                </a:lnTo>
                <a:lnTo>
                  <a:pt x="0" y="142384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lvl="0" algn="l" defTabSz="12446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kern="12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Micro controller board based on</a:t>
            </a:r>
            <a:r>
              <a:rPr lang="ar-EG" sz="2400" b="1" kern="12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 </a:t>
            </a:r>
            <a:r>
              <a:rPr lang="en-US" sz="2400" b="1" kern="12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ATmega328p</a:t>
            </a:r>
            <a:endParaRPr lang="en-US" sz="2400" b="1" kern="12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85806" y="3457793"/>
            <a:ext cx="1423842" cy="1423842"/>
            <a:chOff x="6155751" y="3457793"/>
            <a:chExt cx="1423842" cy="1423842"/>
          </a:xfrm>
        </p:grpSpPr>
        <p:sp>
          <p:nvSpPr>
            <p:cNvPr id="15" name="Oval 14"/>
            <p:cNvSpPr/>
            <p:nvPr/>
          </p:nvSpPr>
          <p:spPr>
            <a:xfrm>
              <a:off x="6155751" y="3457793"/>
              <a:ext cx="1423842" cy="1423842"/>
            </a:xfrm>
            <a:prstGeom prst="ellipse">
              <a:avLst/>
            </a:prstGeom>
            <a:solidFill>
              <a:schemeClr val="bg1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Rectangle 15" descr="Right Double Quote"/>
            <p:cNvSpPr/>
            <p:nvPr/>
          </p:nvSpPr>
          <p:spPr>
            <a:xfrm>
              <a:off x="6454758" y="3756800"/>
              <a:ext cx="825828" cy="825828"/>
            </a:xfrm>
            <a:prstGeom prst="rect">
              <a:avLst/>
            </a:prstGeom>
            <a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dgm="http://schemas.openxmlformats.org/drawingml/2006/diagram"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7" name="Freeform 16"/>
          <p:cNvSpPr/>
          <p:nvPr/>
        </p:nvSpPr>
        <p:spPr>
          <a:xfrm>
            <a:off x="2033573" y="3457793"/>
            <a:ext cx="3764502" cy="1423842"/>
          </a:xfrm>
          <a:custGeom>
            <a:avLst/>
            <a:gdLst>
              <a:gd name="connsiteX0" fmla="*/ 0 w 3356200"/>
              <a:gd name="connsiteY0" fmla="*/ 0 h 1423842"/>
              <a:gd name="connsiteX1" fmla="*/ 3356200 w 3356200"/>
              <a:gd name="connsiteY1" fmla="*/ 0 h 1423842"/>
              <a:gd name="connsiteX2" fmla="*/ 3356200 w 3356200"/>
              <a:gd name="connsiteY2" fmla="*/ 1423842 h 1423842"/>
              <a:gd name="connsiteX3" fmla="*/ 0 w 3356200"/>
              <a:gd name="connsiteY3" fmla="*/ 1423842 h 1423842"/>
              <a:gd name="connsiteX4" fmla="*/ 0 w 3356200"/>
              <a:gd name="connsiteY4" fmla="*/ 0 h 14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6200" h="1423842">
                <a:moveTo>
                  <a:pt x="0" y="0"/>
                </a:moveTo>
                <a:lnTo>
                  <a:pt x="3356200" y="0"/>
                </a:lnTo>
                <a:lnTo>
                  <a:pt x="3356200" y="1423842"/>
                </a:lnTo>
                <a:lnTo>
                  <a:pt x="0" y="142384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lvl="0" algn="l" defTabSz="12446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kern="12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Technical </a:t>
            </a:r>
            <a:r>
              <a:rPr lang="en-US" sz="2400" b="1" kern="12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specifications</a:t>
            </a:r>
            <a:endParaRPr lang="en-US" sz="2400" b="1" kern="12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861" y="3788895"/>
            <a:ext cx="609732" cy="76163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0765" y="2031665"/>
            <a:ext cx="995653" cy="72465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4543" y="2031666"/>
            <a:ext cx="619277" cy="775244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10634614" y="-6674"/>
            <a:ext cx="1560723" cy="382269"/>
            <a:chOff x="10631277" y="0"/>
            <a:chExt cx="1560723" cy="382269"/>
          </a:xfrm>
        </p:grpSpPr>
        <p:sp>
          <p:nvSpPr>
            <p:cNvPr id="33" name="Rectangle 32"/>
            <p:cNvSpPr/>
            <p:nvPr/>
          </p:nvSpPr>
          <p:spPr>
            <a:xfrm>
              <a:off x="10631277" y="0"/>
              <a:ext cx="1560723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itle 1"/>
            <p:cNvSpPr txBox="1">
              <a:spLocks/>
            </p:cNvSpPr>
            <p:nvPr/>
          </p:nvSpPr>
          <p:spPr>
            <a:xfrm>
              <a:off x="10631277" y="33051"/>
              <a:ext cx="1560723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Arduino Uno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29" name="Title 1"/>
          <p:cNvSpPr txBox="1">
            <a:spLocks/>
          </p:cNvSpPr>
          <p:nvPr/>
        </p:nvSpPr>
        <p:spPr>
          <a:xfrm>
            <a:off x="355002" y="478878"/>
            <a:ext cx="6817536" cy="8513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Why </a:t>
            </a:r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Did We Use This Part ?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76967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EBB2C3-BA55-9003-5972-E48DCF547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667570"/>
              </p:ext>
            </p:extLst>
          </p:nvPr>
        </p:nvGraphicFramePr>
        <p:xfrm>
          <a:off x="4484003" y="550843"/>
          <a:ext cx="7009498" cy="544926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718548">
                  <a:extLst>
                    <a:ext uri="{9D8B030D-6E8A-4147-A177-3AD203B41FA5}">
                      <a16:colId xmlns:a16="http://schemas.microsoft.com/office/drawing/2014/main" val="29645916"/>
                    </a:ext>
                  </a:extLst>
                </a:gridCol>
                <a:gridCol w="3290950">
                  <a:extLst>
                    <a:ext uri="{9D8B030D-6E8A-4147-A177-3AD203B41FA5}">
                      <a16:colId xmlns:a16="http://schemas.microsoft.com/office/drawing/2014/main" val="1353440578"/>
                    </a:ext>
                  </a:extLst>
                </a:gridCol>
              </a:tblGrid>
              <a:tr h="433042"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q"/>
                        <a:tabLst>
                          <a:tab pos="2286000" algn="l"/>
                        </a:tabLst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Microcontroller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2286000" algn="l"/>
                        </a:tabLst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ATmega328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48298"/>
                  </a:ext>
                </a:extLst>
              </a:tr>
              <a:tr h="433042"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q"/>
                        <a:tabLst>
                          <a:tab pos="2286000" algn="l"/>
                        </a:tabLst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Operating Voltage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2286000" algn="l"/>
                        </a:tabLst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5V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442587"/>
                  </a:ext>
                </a:extLst>
              </a:tr>
              <a:tr h="433042"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q"/>
                        <a:tabLst>
                          <a:tab pos="2286000" algn="l"/>
                        </a:tabLst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Input Voltage (recommended)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2286000" algn="l"/>
                        </a:tabLst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7-12V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576584"/>
                  </a:ext>
                </a:extLst>
              </a:tr>
              <a:tr h="433042"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q"/>
                        <a:tabLst>
                          <a:tab pos="2286000" algn="l"/>
                        </a:tabLst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Input Voltage (limits)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2286000" algn="l"/>
                        </a:tabLst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6-20V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54087"/>
                  </a:ext>
                </a:extLst>
              </a:tr>
              <a:tr h="433042"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q"/>
                        <a:tabLst>
                          <a:tab pos="2286000" algn="l"/>
                        </a:tabLst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Digital I/O Pins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2286000" algn="l"/>
                        </a:tabLst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14 (of which 6 provide PWM output)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895920"/>
                  </a:ext>
                </a:extLst>
              </a:tr>
              <a:tr h="433042"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q"/>
                        <a:tabLst>
                          <a:tab pos="2286000" algn="l"/>
                        </a:tabLst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Analog Input Pins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2286000" algn="l"/>
                        </a:tabLst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6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39135"/>
                  </a:ext>
                </a:extLst>
              </a:tr>
              <a:tr h="433042"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q"/>
                        <a:tabLst>
                          <a:tab pos="2286000" algn="l"/>
                        </a:tabLst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DC Current per I/O Pin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2286000" algn="l"/>
                        </a:tabLst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40 mA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67528"/>
                  </a:ext>
                </a:extLst>
              </a:tr>
              <a:tr h="433042"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q"/>
                        <a:tabLst>
                          <a:tab pos="2286000" algn="l"/>
                        </a:tabLst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DC Current for 3.3V Pin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2286000" algn="l"/>
                        </a:tabLst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50 mA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279106"/>
                  </a:ext>
                </a:extLst>
              </a:tr>
              <a:tr h="433042"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q"/>
                        <a:tabLst>
                          <a:tab pos="2286000" algn="l"/>
                        </a:tabLst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Flash Memory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2286000" algn="l"/>
                        </a:tabLst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32 KB (ATmega328) of which 0.5 KB used by boot loader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704936"/>
                  </a:ext>
                </a:extLst>
              </a:tr>
              <a:tr h="433042"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q"/>
                        <a:tabLst>
                          <a:tab pos="2286000" algn="l"/>
                        </a:tabLst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SRAM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2286000" algn="l"/>
                        </a:tabLst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2 KB (ATmega328)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710103"/>
                  </a:ext>
                </a:extLst>
              </a:tr>
              <a:tr h="433042"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q"/>
                        <a:tabLst>
                          <a:tab pos="2286000" algn="l"/>
                        </a:tabLst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EEPROM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2286000" algn="l"/>
                        </a:tabLst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1 KB (ATmega328)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80307"/>
                  </a:ext>
                </a:extLst>
              </a:tr>
              <a:tr h="433042"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q"/>
                        <a:tabLst>
                          <a:tab pos="2286000" algn="l"/>
                        </a:tabLst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Clock Speed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2286000" algn="l"/>
                        </a:tabLst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effectLst/>
                          <a:latin typeface="Cairo" pitchFamily="2" charset="-78"/>
                          <a:cs typeface="Cairo" pitchFamily="2" charset="-78"/>
                        </a:rPr>
                        <a:t>16 MHz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iro" pitchFamily="2" charset="-78"/>
                        <a:ea typeface="Times New Roman" panose="02020603050405020304" pitchFamily="18" charset="0"/>
                        <a:cs typeface="Cairo" pitchFamily="2" charset="-78"/>
                      </a:endParaRPr>
                    </a:p>
                  </a:txBody>
                  <a:tcPr marL="75124" marR="75124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580856"/>
                  </a:ext>
                </a:extLst>
              </a:tr>
            </a:tbl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>
          <a:xfrm>
            <a:off x="337006" y="0"/>
            <a:ext cx="3809990" cy="22672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Technical Specifications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0634614" y="-6674"/>
            <a:ext cx="1560723" cy="382269"/>
            <a:chOff x="10631277" y="0"/>
            <a:chExt cx="1560723" cy="382269"/>
          </a:xfrm>
        </p:grpSpPr>
        <p:sp>
          <p:nvSpPr>
            <p:cNvPr id="21" name="Rectangle 20"/>
            <p:cNvSpPr/>
            <p:nvPr/>
          </p:nvSpPr>
          <p:spPr>
            <a:xfrm>
              <a:off x="10631277" y="0"/>
              <a:ext cx="1560723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itle 1"/>
            <p:cNvSpPr txBox="1">
              <a:spLocks/>
            </p:cNvSpPr>
            <p:nvPr/>
          </p:nvSpPr>
          <p:spPr>
            <a:xfrm>
              <a:off x="10631277" y="33051"/>
              <a:ext cx="1560723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Arduino Uno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4484003" y="550843"/>
            <a:ext cx="7009498" cy="542068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94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691" y="1102813"/>
            <a:ext cx="6512642" cy="4777633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690449" y="368245"/>
            <a:ext cx="1378434" cy="626824"/>
          </a:xfrm>
          <a:prstGeom prst="rect">
            <a:avLst/>
          </a:prstGeom>
          <a:solidFill>
            <a:srgbClr val="0F73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8713473" y="430301"/>
            <a:ext cx="1378434" cy="502712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Digital </a:t>
            </a:r>
            <a:br>
              <a:rPr lang="en-US" sz="16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</a:br>
            <a:r>
              <a:rPr lang="en-US" sz="16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input/output</a:t>
            </a:r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4367656" y="1645770"/>
            <a:ext cx="133236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5483329" y="224632"/>
            <a:ext cx="1811816" cy="770438"/>
            <a:chOff x="3289317" y="162002"/>
            <a:chExt cx="1811816" cy="770438"/>
          </a:xfrm>
        </p:grpSpPr>
        <p:sp>
          <p:nvSpPr>
            <p:cNvPr id="36" name="Rectangle 35"/>
            <p:cNvSpPr/>
            <p:nvPr/>
          </p:nvSpPr>
          <p:spPr>
            <a:xfrm>
              <a:off x="3506008" y="162002"/>
              <a:ext cx="1378434" cy="770437"/>
            </a:xfrm>
            <a:prstGeom prst="rect">
              <a:avLst/>
            </a:prstGeom>
            <a:solidFill>
              <a:srgbClr val="0F739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itle 1"/>
            <p:cNvSpPr txBox="1">
              <a:spLocks/>
            </p:cNvSpPr>
            <p:nvPr/>
          </p:nvSpPr>
          <p:spPr>
            <a:xfrm>
              <a:off x="3289317" y="174295"/>
              <a:ext cx="1811816" cy="75814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ATMEGA16U2</a:t>
              </a:r>
            </a:p>
            <a:p>
              <a:r>
                <a:rPr lang="en-US" sz="1600" dirty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Convert from </a:t>
              </a:r>
            </a:p>
            <a:p>
              <a:r>
                <a:rPr lang="en-US" sz="1600" dirty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UART to USB</a:t>
              </a:r>
            </a:p>
          </p:txBody>
        </p:sp>
      </p:grpSp>
      <p:cxnSp>
        <p:nvCxnSpPr>
          <p:cNvPr id="62" name="Straight Arrow Connector 61"/>
          <p:cNvCxnSpPr/>
          <p:nvPr/>
        </p:nvCxnSpPr>
        <p:spPr>
          <a:xfrm>
            <a:off x="4612447" y="2648881"/>
            <a:ext cx="635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6" name="Group 45"/>
          <p:cNvGrpSpPr/>
          <p:nvPr/>
        </p:nvGrpSpPr>
        <p:grpSpPr>
          <a:xfrm>
            <a:off x="3678439" y="1417804"/>
            <a:ext cx="1378434" cy="463893"/>
            <a:chOff x="2060910" y="1364895"/>
            <a:chExt cx="1378434" cy="463893"/>
          </a:xfrm>
        </p:grpSpPr>
        <p:sp>
          <p:nvSpPr>
            <p:cNvPr id="37" name="Rectangle 36"/>
            <p:cNvSpPr/>
            <p:nvPr/>
          </p:nvSpPr>
          <p:spPr>
            <a:xfrm>
              <a:off x="2111014" y="1364895"/>
              <a:ext cx="1228407" cy="463893"/>
            </a:xfrm>
            <a:prstGeom prst="rect">
              <a:avLst/>
            </a:prstGeom>
            <a:solidFill>
              <a:srgbClr val="0F739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itle 1"/>
            <p:cNvSpPr txBox="1">
              <a:spLocks/>
            </p:cNvSpPr>
            <p:nvPr/>
          </p:nvSpPr>
          <p:spPr>
            <a:xfrm>
              <a:off x="2060910" y="1396932"/>
              <a:ext cx="1378434" cy="3790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Reset button</a:t>
              </a:r>
            </a:p>
          </p:txBody>
        </p:sp>
      </p:grpSp>
      <p:cxnSp>
        <p:nvCxnSpPr>
          <p:cNvPr id="61" name="Straight Arrow Connector 60"/>
          <p:cNvCxnSpPr/>
          <p:nvPr/>
        </p:nvCxnSpPr>
        <p:spPr>
          <a:xfrm>
            <a:off x="4254922" y="4928057"/>
            <a:ext cx="133236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flipV="1">
            <a:off x="10424091" y="5790966"/>
            <a:ext cx="0" cy="19856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4254922" y="2418550"/>
            <a:ext cx="777185" cy="463893"/>
            <a:chOff x="2060910" y="2355920"/>
            <a:chExt cx="777185" cy="463893"/>
          </a:xfrm>
        </p:grpSpPr>
        <p:sp>
          <p:nvSpPr>
            <p:cNvPr id="38" name="Rectangle 37"/>
            <p:cNvSpPr/>
            <p:nvPr/>
          </p:nvSpPr>
          <p:spPr>
            <a:xfrm>
              <a:off x="2173644" y="2355920"/>
              <a:ext cx="562685" cy="463893"/>
            </a:xfrm>
            <a:prstGeom prst="rect">
              <a:avLst/>
            </a:prstGeom>
            <a:solidFill>
              <a:srgbClr val="0F739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itle 1"/>
            <p:cNvSpPr txBox="1">
              <a:spLocks/>
            </p:cNvSpPr>
            <p:nvPr/>
          </p:nvSpPr>
          <p:spPr>
            <a:xfrm>
              <a:off x="2060910" y="2403373"/>
              <a:ext cx="777185" cy="36299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USB</a:t>
              </a:r>
            </a:p>
          </p:txBody>
        </p:sp>
      </p:grpSp>
      <p:cxnSp>
        <p:nvCxnSpPr>
          <p:cNvPr id="92" name="Straight Arrow Connector 91"/>
          <p:cNvCxnSpPr/>
          <p:nvPr/>
        </p:nvCxnSpPr>
        <p:spPr>
          <a:xfrm flipV="1">
            <a:off x="8826067" y="5790966"/>
            <a:ext cx="0" cy="19856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4067030" y="4556878"/>
            <a:ext cx="889920" cy="801444"/>
            <a:chOff x="2060910" y="4557419"/>
            <a:chExt cx="889920" cy="801444"/>
          </a:xfrm>
        </p:grpSpPr>
        <p:sp>
          <p:nvSpPr>
            <p:cNvPr id="39" name="Rectangle 38"/>
            <p:cNvSpPr/>
            <p:nvPr/>
          </p:nvSpPr>
          <p:spPr>
            <a:xfrm>
              <a:off x="2060910" y="4592360"/>
              <a:ext cx="889920" cy="766503"/>
            </a:xfrm>
            <a:prstGeom prst="rect">
              <a:avLst/>
            </a:prstGeom>
            <a:solidFill>
              <a:srgbClr val="0F739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2111014" y="4557419"/>
              <a:ext cx="839815" cy="80144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Input </a:t>
              </a:r>
            </a:p>
            <a:p>
              <a:r>
                <a:rPr lang="en-US" sz="1600" dirty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voltage </a:t>
              </a:r>
            </a:p>
            <a:p>
              <a:r>
                <a:rPr lang="en-US" sz="1600" dirty="0" smtClean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7-12V</a:t>
              </a:r>
              <a:endParaRPr lang="en-US" sz="16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8356056" y="5935637"/>
            <a:ext cx="940023" cy="544199"/>
            <a:chOff x="6216953" y="5623617"/>
            <a:chExt cx="940023" cy="544199"/>
          </a:xfrm>
        </p:grpSpPr>
        <p:sp>
          <p:nvSpPr>
            <p:cNvPr id="40" name="Rectangle 39"/>
            <p:cNvSpPr/>
            <p:nvPr/>
          </p:nvSpPr>
          <p:spPr>
            <a:xfrm>
              <a:off x="6224165" y="5623618"/>
              <a:ext cx="889920" cy="544198"/>
            </a:xfrm>
            <a:prstGeom prst="rect">
              <a:avLst/>
            </a:prstGeom>
            <a:solidFill>
              <a:srgbClr val="0F739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itle 1"/>
            <p:cNvSpPr txBox="1">
              <a:spLocks/>
            </p:cNvSpPr>
            <p:nvPr/>
          </p:nvSpPr>
          <p:spPr>
            <a:xfrm>
              <a:off x="6216953" y="5623617"/>
              <a:ext cx="940023" cy="54419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Output </a:t>
              </a:r>
            </a:p>
            <a:p>
              <a:r>
                <a:rPr lang="en-US" sz="1600" dirty="0" smtClean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5v&amp;3.3V</a:t>
              </a:r>
              <a:endParaRPr lang="en-US" sz="16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9721912" y="5935637"/>
            <a:ext cx="1378434" cy="544198"/>
            <a:chOff x="7627779" y="5623617"/>
            <a:chExt cx="1378434" cy="544198"/>
          </a:xfrm>
        </p:grpSpPr>
        <p:sp>
          <p:nvSpPr>
            <p:cNvPr id="41" name="Rectangle 40"/>
            <p:cNvSpPr/>
            <p:nvPr/>
          </p:nvSpPr>
          <p:spPr>
            <a:xfrm>
              <a:off x="7706634" y="5623617"/>
              <a:ext cx="1246648" cy="544198"/>
            </a:xfrm>
            <a:prstGeom prst="rect">
              <a:avLst/>
            </a:prstGeom>
            <a:solidFill>
              <a:srgbClr val="0F739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itle 1"/>
            <p:cNvSpPr txBox="1">
              <a:spLocks/>
            </p:cNvSpPr>
            <p:nvPr/>
          </p:nvSpPr>
          <p:spPr>
            <a:xfrm>
              <a:off x="7627779" y="5740693"/>
              <a:ext cx="1378434" cy="31004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Analog Inputs</a:t>
              </a:r>
            </a:p>
          </p:txBody>
        </p:sp>
      </p:grpSp>
      <p:cxnSp>
        <p:nvCxnSpPr>
          <p:cNvPr id="49" name="Curved Connector 48"/>
          <p:cNvCxnSpPr>
            <a:stCxn id="36" idx="2"/>
          </p:cNvCxnSpPr>
          <p:nvPr/>
        </p:nvCxnSpPr>
        <p:spPr>
          <a:xfrm rot="16200000" flipH="1">
            <a:off x="5976904" y="1407402"/>
            <a:ext cx="1833924" cy="1009258"/>
          </a:xfrm>
          <a:prstGeom prst="curvedConnector3">
            <a:avLst>
              <a:gd name="adj1" fmla="val 71295"/>
            </a:avLst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7" name="Group 76"/>
          <p:cNvGrpSpPr/>
          <p:nvPr/>
        </p:nvGrpSpPr>
        <p:grpSpPr>
          <a:xfrm>
            <a:off x="7823782" y="1198063"/>
            <a:ext cx="2819400" cy="219741"/>
            <a:chOff x="5629770" y="1135433"/>
            <a:chExt cx="2819400" cy="219741"/>
          </a:xfrm>
        </p:grpSpPr>
        <p:cxnSp>
          <p:nvCxnSpPr>
            <p:cNvPr id="65" name="Straight Connector 64"/>
            <p:cNvCxnSpPr/>
            <p:nvPr/>
          </p:nvCxnSpPr>
          <p:spPr>
            <a:xfrm flipH="1">
              <a:off x="5629770" y="1135433"/>
              <a:ext cx="28194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8448675" y="1143000"/>
              <a:ext cx="0" cy="21217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5629770" y="1135433"/>
              <a:ext cx="0" cy="2197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1" name="Straight Arrow Connector 70"/>
          <p:cNvCxnSpPr/>
          <p:nvPr/>
        </p:nvCxnSpPr>
        <p:spPr>
          <a:xfrm>
            <a:off x="9414835" y="995069"/>
            <a:ext cx="0" cy="1698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8" name="Group 77"/>
          <p:cNvGrpSpPr/>
          <p:nvPr/>
        </p:nvGrpSpPr>
        <p:grpSpPr>
          <a:xfrm rot="10800000">
            <a:off x="9721912" y="5673890"/>
            <a:ext cx="1339796" cy="117076"/>
            <a:chOff x="5629770" y="1135433"/>
            <a:chExt cx="2819400" cy="219741"/>
          </a:xfrm>
        </p:grpSpPr>
        <p:cxnSp>
          <p:nvCxnSpPr>
            <p:cNvPr id="79" name="Straight Connector 78"/>
            <p:cNvCxnSpPr/>
            <p:nvPr/>
          </p:nvCxnSpPr>
          <p:spPr>
            <a:xfrm flipH="1">
              <a:off x="5629770" y="1135433"/>
              <a:ext cx="28194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8448675" y="1143000"/>
              <a:ext cx="0" cy="21217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5629770" y="1135433"/>
              <a:ext cx="0" cy="2197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6" name="Group 85"/>
          <p:cNvGrpSpPr/>
          <p:nvPr/>
        </p:nvGrpSpPr>
        <p:grpSpPr>
          <a:xfrm rot="10800000">
            <a:off x="7966162" y="5673890"/>
            <a:ext cx="1603552" cy="113045"/>
            <a:chOff x="5629770" y="1135433"/>
            <a:chExt cx="2819400" cy="219741"/>
          </a:xfrm>
        </p:grpSpPr>
        <p:cxnSp>
          <p:nvCxnSpPr>
            <p:cNvPr id="87" name="Straight Connector 86"/>
            <p:cNvCxnSpPr/>
            <p:nvPr/>
          </p:nvCxnSpPr>
          <p:spPr>
            <a:xfrm flipH="1">
              <a:off x="5629770" y="1135433"/>
              <a:ext cx="28194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8448675" y="1143000"/>
              <a:ext cx="0" cy="21217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5629770" y="1135433"/>
              <a:ext cx="0" cy="2197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4" name="Title 1"/>
          <p:cNvSpPr txBox="1">
            <a:spLocks/>
          </p:cNvSpPr>
          <p:nvPr/>
        </p:nvSpPr>
        <p:spPr>
          <a:xfrm>
            <a:off x="337006" y="0"/>
            <a:ext cx="3809990" cy="22672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Basic</a:t>
            </a:r>
          </a:p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Parts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10634614" y="-6674"/>
            <a:ext cx="1560723" cy="382269"/>
            <a:chOff x="10631277" y="0"/>
            <a:chExt cx="1560723" cy="382269"/>
          </a:xfrm>
        </p:grpSpPr>
        <p:sp>
          <p:nvSpPr>
            <p:cNvPr id="50" name="Rectangle 49"/>
            <p:cNvSpPr/>
            <p:nvPr/>
          </p:nvSpPr>
          <p:spPr>
            <a:xfrm>
              <a:off x="10631277" y="0"/>
              <a:ext cx="1560723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itle 1"/>
            <p:cNvSpPr txBox="1">
              <a:spLocks/>
            </p:cNvSpPr>
            <p:nvPr/>
          </p:nvSpPr>
          <p:spPr>
            <a:xfrm>
              <a:off x="10631277" y="33051"/>
              <a:ext cx="1560723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Arduino Uno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602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53" y="5895716"/>
            <a:ext cx="2336693" cy="742987"/>
          </a:xfrm>
          <a:prstGeom prst="rect">
            <a:avLst/>
          </a:prstGeom>
        </p:spPr>
      </p:pic>
      <p:sp>
        <p:nvSpPr>
          <p:cNvPr id="30" name="Title 1"/>
          <p:cNvSpPr txBox="1">
            <a:spLocks/>
          </p:cNvSpPr>
          <p:nvPr/>
        </p:nvSpPr>
        <p:spPr>
          <a:xfrm>
            <a:off x="0" y="2833072"/>
            <a:ext cx="12192000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ESP 8266</a:t>
            </a:r>
            <a:endParaRPr lang="en-US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0718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809327" y="3789695"/>
            <a:ext cx="11034841" cy="1094277"/>
          </a:xfrm>
          <a:custGeom>
            <a:avLst/>
            <a:gdLst>
              <a:gd name="connsiteX0" fmla="*/ 0 w 3356200"/>
              <a:gd name="connsiteY0" fmla="*/ 0 h 1423842"/>
              <a:gd name="connsiteX1" fmla="*/ 3356200 w 3356200"/>
              <a:gd name="connsiteY1" fmla="*/ 0 h 1423842"/>
              <a:gd name="connsiteX2" fmla="*/ 3356200 w 3356200"/>
              <a:gd name="connsiteY2" fmla="*/ 1423842 h 1423842"/>
              <a:gd name="connsiteX3" fmla="*/ 0 w 3356200"/>
              <a:gd name="connsiteY3" fmla="*/ 1423842 h 1423842"/>
              <a:gd name="connsiteX4" fmla="*/ 0 w 3356200"/>
              <a:gd name="connsiteY4" fmla="*/ 0 h 14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6200" h="1423842">
                <a:moveTo>
                  <a:pt x="0" y="0"/>
                </a:moveTo>
                <a:lnTo>
                  <a:pt x="3356200" y="0"/>
                </a:lnTo>
                <a:lnTo>
                  <a:pt x="3356200" y="1423842"/>
                </a:lnTo>
                <a:lnTo>
                  <a:pt x="0" y="142384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lvl="0" defTabSz="1244600"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Wi-Fi capability: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it’s </a:t>
            </a:r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equipped with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Wi-Fi microcontroller, </a:t>
            </a:r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which allows it to connect to the internet and communicate with other devices over the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network wirelessly. </a:t>
            </a:r>
            <a:endParaRPr lang="en-US" sz="2000" kern="12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809328" y="1708966"/>
            <a:ext cx="4623909" cy="1055499"/>
          </a:xfrm>
          <a:custGeom>
            <a:avLst/>
            <a:gdLst>
              <a:gd name="connsiteX0" fmla="*/ 0 w 3356200"/>
              <a:gd name="connsiteY0" fmla="*/ 0 h 1423842"/>
              <a:gd name="connsiteX1" fmla="*/ 3356200 w 3356200"/>
              <a:gd name="connsiteY1" fmla="*/ 0 h 1423842"/>
              <a:gd name="connsiteX2" fmla="*/ 3356200 w 3356200"/>
              <a:gd name="connsiteY2" fmla="*/ 1423842 h 1423842"/>
              <a:gd name="connsiteX3" fmla="*/ 0 w 3356200"/>
              <a:gd name="connsiteY3" fmla="*/ 1423842 h 1423842"/>
              <a:gd name="connsiteX4" fmla="*/ 0 w 3356200"/>
              <a:gd name="connsiteY4" fmla="*/ 0 h 14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6200" h="1423842">
                <a:moveTo>
                  <a:pt x="0" y="0"/>
                </a:moveTo>
                <a:lnTo>
                  <a:pt x="3356200" y="0"/>
                </a:lnTo>
                <a:lnTo>
                  <a:pt x="3356200" y="1423842"/>
                </a:lnTo>
                <a:lnTo>
                  <a:pt x="0" y="142384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lvl="0" defTabSz="1244600"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Easy to program: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it can </a:t>
            </a:r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be programmed using the Arduino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IDE.</a:t>
            </a:r>
            <a:endParaRPr lang="en-US" sz="2000" kern="12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6640461" y="1701719"/>
            <a:ext cx="5353064" cy="1062746"/>
          </a:xfrm>
          <a:custGeom>
            <a:avLst/>
            <a:gdLst>
              <a:gd name="connsiteX0" fmla="*/ 0 w 3356200"/>
              <a:gd name="connsiteY0" fmla="*/ 0 h 1423842"/>
              <a:gd name="connsiteX1" fmla="*/ 3356200 w 3356200"/>
              <a:gd name="connsiteY1" fmla="*/ 0 h 1423842"/>
              <a:gd name="connsiteX2" fmla="*/ 3356200 w 3356200"/>
              <a:gd name="connsiteY2" fmla="*/ 1423842 h 1423842"/>
              <a:gd name="connsiteX3" fmla="*/ 0 w 3356200"/>
              <a:gd name="connsiteY3" fmla="*/ 1423842 h 1423842"/>
              <a:gd name="connsiteX4" fmla="*/ 0 w 3356200"/>
              <a:gd name="connsiteY4" fmla="*/ 0 h 14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6200" h="1423842">
                <a:moveTo>
                  <a:pt x="0" y="0"/>
                </a:moveTo>
                <a:lnTo>
                  <a:pt x="3356200" y="0"/>
                </a:lnTo>
                <a:lnTo>
                  <a:pt x="3356200" y="1423842"/>
                </a:lnTo>
                <a:lnTo>
                  <a:pt x="0" y="142384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lvl="0" defTabSz="1244600"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Real-time monitoring: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it can </a:t>
            </a:r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be used to connect sensors and other monitoring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devices.</a:t>
            </a:r>
            <a:endParaRPr lang="en-US" sz="2000" kern="12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81" y="1701718"/>
            <a:ext cx="578647" cy="4278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35" y="3799385"/>
            <a:ext cx="578647" cy="4278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814" y="1701718"/>
            <a:ext cx="578647" cy="427848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10944747" y="-7116"/>
            <a:ext cx="1254369" cy="393992"/>
            <a:chOff x="10937631" y="0"/>
            <a:chExt cx="1254369" cy="393992"/>
          </a:xfrm>
        </p:grpSpPr>
        <p:sp>
          <p:nvSpPr>
            <p:cNvPr id="18" name="Rectangle 17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itle 1"/>
            <p:cNvSpPr txBox="1">
              <a:spLocks/>
            </p:cNvSpPr>
            <p:nvPr/>
          </p:nvSpPr>
          <p:spPr>
            <a:xfrm>
              <a:off x="10937631" y="44774"/>
              <a:ext cx="1254369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ESP 8266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6" name="Title 1"/>
          <p:cNvSpPr txBox="1">
            <a:spLocks/>
          </p:cNvSpPr>
          <p:nvPr/>
        </p:nvSpPr>
        <p:spPr>
          <a:xfrm>
            <a:off x="355002" y="478878"/>
            <a:ext cx="6817536" cy="8513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Why </a:t>
            </a:r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Did We Use This Part ?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7507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10944747" y="-7116"/>
            <a:ext cx="1254369" cy="393992"/>
            <a:chOff x="10937631" y="0"/>
            <a:chExt cx="1254369" cy="393992"/>
          </a:xfrm>
        </p:grpSpPr>
        <p:sp>
          <p:nvSpPr>
            <p:cNvPr id="20" name="Rectangle 19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itle 1"/>
            <p:cNvSpPr txBox="1">
              <a:spLocks/>
            </p:cNvSpPr>
            <p:nvPr/>
          </p:nvSpPr>
          <p:spPr>
            <a:xfrm>
              <a:off x="10937631" y="44774"/>
              <a:ext cx="1254369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ESP 8266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9" name="Title 1"/>
          <p:cNvSpPr txBox="1">
            <a:spLocks/>
          </p:cNvSpPr>
          <p:nvPr/>
        </p:nvSpPr>
        <p:spPr>
          <a:xfrm>
            <a:off x="337006" y="478878"/>
            <a:ext cx="2804227" cy="20061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NodeMCUBasic </a:t>
            </a:r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Parts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974913" y="1280643"/>
            <a:ext cx="8686378" cy="45940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2" b="6823"/>
          <a:stretch/>
        </p:blipFill>
        <p:spPr>
          <a:xfrm>
            <a:off x="3266009" y="1679139"/>
            <a:ext cx="8104186" cy="379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787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53" y="5895716"/>
            <a:ext cx="2336693" cy="742987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1187369"/>
            <a:ext cx="12192000" cy="3520978"/>
            <a:chOff x="0" y="788266"/>
            <a:chExt cx="12192000" cy="3520978"/>
          </a:xfrm>
        </p:grpSpPr>
        <p:sp>
          <p:nvSpPr>
            <p:cNvPr id="30" name="Title 1"/>
            <p:cNvSpPr txBox="1">
              <a:spLocks/>
            </p:cNvSpPr>
            <p:nvPr/>
          </p:nvSpPr>
          <p:spPr>
            <a:xfrm>
              <a:off x="0" y="2548755"/>
              <a:ext cx="12192000" cy="176048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b="1" dirty="0" smtClean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I2C</a:t>
              </a:r>
            </a:p>
            <a:p>
              <a:r>
                <a:rPr lang="en-US" b="1" dirty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[Inter-Integrated </a:t>
              </a:r>
              <a:r>
                <a:rPr lang="en-US" b="1" dirty="0" smtClean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Circuit]</a:t>
              </a:r>
              <a:endParaRPr lang="en-US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endParaRPr>
            </a:p>
          </p:txBody>
        </p:sp>
        <p:sp>
          <p:nvSpPr>
            <p:cNvPr id="5" name="Title 1"/>
            <p:cNvSpPr txBox="1">
              <a:spLocks/>
            </p:cNvSpPr>
            <p:nvPr/>
          </p:nvSpPr>
          <p:spPr>
            <a:xfrm>
              <a:off x="0" y="788266"/>
              <a:ext cx="12192000" cy="902311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b="1" dirty="0" smtClean="0">
                  <a:solidFill>
                    <a:schemeClr val="bg1"/>
                  </a:solidFill>
                  <a:latin typeface="Cairo" pitchFamily="2" charset="-78"/>
                  <a:cs typeface="Cairo" pitchFamily="2" charset="-78"/>
                </a:rPr>
                <a:t>ESP</a:t>
              </a:r>
              <a:endParaRPr lang="en-US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endParaRPr>
            </a:p>
          </p:txBody>
        </p:sp>
        <p:cxnSp>
          <p:nvCxnSpPr>
            <p:cNvPr id="3" name="Straight Arrow Connector 2"/>
            <p:cNvCxnSpPr/>
            <p:nvPr/>
          </p:nvCxnSpPr>
          <p:spPr>
            <a:xfrm>
              <a:off x="6071191" y="1594884"/>
              <a:ext cx="0" cy="723014"/>
            </a:xfrm>
            <a:prstGeom prst="straightConnector1">
              <a:avLst/>
            </a:prstGeom>
            <a:ln w="76200">
              <a:solidFill>
                <a:schemeClr val="bg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7274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811191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What is I2C ?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sp>
        <p:nvSpPr>
          <p:cNvPr id="25" name="Title 1"/>
          <p:cNvSpPr txBox="1">
            <a:spLocks/>
          </p:cNvSpPr>
          <p:nvPr/>
        </p:nvSpPr>
        <p:spPr>
          <a:xfrm>
            <a:off x="0" y="1319915"/>
            <a:ext cx="5875725" cy="22193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It’s </a:t>
            </a:r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 protocol for communication between microcontrollers and other electronic 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devices</a:t>
            </a: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The ESP8266 microcontroller [which is used in the ESP8266 and NodeMCU boards] has built-in hardware support for I2C communication.</a:t>
            </a:r>
          </a:p>
          <a:p>
            <a:pPr algn="l"/>
            <a:endParaRPr lang="en-US" sz="2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8" b="6202"/>
          <a:stretch/>
        </p:blipFill>
        <p:spPr>
          <a:xfrm>
            <a:off x="5901070" y="0"/>
            <a:ext cx="6290930" cy="6858000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0944747" y="-7116"/>
            <a:ext cx="1254369" cy="393992"/>
            <a:chOff x="10937631" y="0"/>
            <a:chExt cx="1254369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69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ESP 8266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745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0"/>
            <a:ext cx="8204566" cy="11725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Why Did We Choose I2C Not SPI?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0944747" y="-7116"/>
            <a:ext cx="1254369" cy="393992"/>
            <a:chOff x="10937631" y="0"/>
            <a:chExt cx="1254369" cy="393992"/>
          </a:xfrm>
        </p:grpSpPr>
        <p:sp>
          <p:nvSpPr>
            <p:cNvPr id="7" name="Rectangle 6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10937631" y="44774"/>
              <a:ext cx="1254369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ESP 8266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0" name="Title 1"/>
          <p:cNvSpPr txBox="1">
            <a:spLocks/>
          </p:cNvSpPr>
          <p:nvPr/>
        </p:nvSpPr>
        <p:spPr>
          <a:xfrm>
            <a:off x="337006" y="1035792"/>
            <a:ext cx="11152162" cy="31704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I2C </a:t>
            </a:r>
            <a:r>
              <a:rPr lang="en-US" sz="24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is </a:t>
            </a:r>
            <a:r>
              <a:rPr lang="en-US" sz="24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 simpler and slower protocol that operates in half-duplex </a:t>
            </a:r>
            <a:r>
              <a:rPr lang="en-US" sz="24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mode.</a:t>
            </a:r>
          </a:p>
          <a:p>
            <a:pPr algn="l"/>
            <a:endParaRPr lang="en-US" sz="2400" dirty="0" smtClean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I2C is a </a:t>
            </a:r>
            <a:r>
              <a:rPr lang="en-US" sz="24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multi-master protocol, which means multiple devices can be connected to the same bus</a:t>
            </a:r>
            <a:r>
              <a:rPr lang="en-US" sz="24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.</a:t>
            </a:r>
          </a:p>
          <a:p>
            <a:pPr algn="l"/>
            <a:endParaRPr lang="en-US" sz="2400" dirty="0" smtClean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I2C </a:t>
            </a:r>
            <a:r>
              <a:rPr lang="en-US" sz="24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is suitable for applications with low data rates and low power consumption, such as </a:t>
            </a:r>
            <a:r>
              <a:rPr lang="en-US" sz="2400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sensors, </a:t>
            </a:r>
            <a:r>
              <a:rPr lang="en-US" sz="24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and real-time clocks. </a:t>
            </a:r>
          </a:p>
          <a:p>
            <a:pPr algn="l"/>
            <a:endParaRPr lang="en-US" sz="2400" dirty="0" smtClean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2404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337006" y="-7116"/>
            <a:ext cx="4811191" cy="12103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How I2C Work ?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10944747" y="-7116"/>
            <a:ext cx="1254369" cy="393992"/>
            <a:chOff x="10937631" y="0"/>
            <a:chExt cx="1254369" cy="393992"/>
          </a:xfrm>
        </p:grpSpPr>
        <p:sp>
          <p:nvSpPr>
            <p:cNvPr id="14" name="Rectangle 13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itle 1"/>
            <p:cNvSpPr txBox="1">
              <a:spLocks/>
            </p:cNvSpPr>
            <p:nvPr/>
          </p:nvSpPr>
          <p:spPr>
            <a:xfrm>
              <a:off x="10937631" y="44774"/>
              <a:ext cx="1254369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ESP 8266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550967"/>
              </p:ext>
            </p:extLst>
          </p:nvPr>
        </p:nvGraphicFramePr>
        <p:xfrm>
          <a:off x="4223261" y="1247973"/>
          <a:ext cx="7158330" cy="4869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8155">
                  <a:extLst>
                    <a:ext uri="{9D8B030D-6E8A-4147-A177-3AD203B41FA5}">
                      <a16:colId xmlns:a16="http://schemas.microsoft.com/office/drawing/2014/main" val="3366730674"/>
                    </a:ext>
                  </a:extLst>
                </a:gridCol>
                <a:gridCol w="3410175">
                  <a:extLst>
                    <a:ext uri="{9D8B030D-6E8A-4147-A177-3AD203B41FA5}">
                      <a16:colId xmlns:a16="http://schemas.microsoft.com/office/drawing/2014/main" val="381386498"/>
                    </a:ext>
                  </a:extLst>
                </a:gridCol>
              </a:tblGrid>
              <a:tr h="714531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en-US" b="1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Wired</a:t>
                      </a:r>
                      <a:r>
                        <a:rPr lang="en-US" b="1" baseline="0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 Used</a:t>
                      </a:r>
                      <a:endParaRPr lang="en-US" b="1" dirty="0">
                        <a:solidFill>
                          <a:schemeClr val="bg1"/>
                        </a:solidFill>
                        <a:latin typeface="Cairo" pitchFamily="2" charset="-78"/>
                        <a:cs typeface="Cairo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2 Wires</a:t>
                      </a:r>
                      <a:endParaRPr lang="en-US" b="0" dirty="0">
                        <a:solidFill>
                          <a:schemeClr val="bg1"/>
                        </a:solidFill>
                        <a:latin typeface="Cairo" pitchFamily="2" charset="-78"/>
                        <a:cs typeface="Cairo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818230"/>
                  </a:ext>
                </a:extLst>
              </a:tr>
              <a:tr h="129683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b="1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Max Speed</a:t>
                      </a:r>
                      <a:endParaRPr lang="en-US" b="1" dirty="0">
                        <a:solidFill>
                          <a:schemeClr val="bg1"/>
                        </a:solidFill>
                        <a:latin typeface="Cairo" pitchFamily="2" charset="-78"/>
                        <a:cs typeface="Cairo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Standard Mode&gt;100</a:t>
                      </a:r>
                      <a:r>
                        <a:rPr lang="en-US" baseline="0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 kbps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baseline="0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Fast Mode&gt;400 kbps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baseline="0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High Speed Mode&gt;3.4 Mbps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baseline="0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Ultra Fast Mode&gt;5 Mbps</a:t>
                      </a:r>
                      <a:endParaRPr lang="en-US" b="0" dirty="0">
                        <a:solidFill>
                          <a:schemeClr val="bg1"/>
                        </a:solidFill>
                        <a:latin typeface="Cairo" pitchFamily="2" charset="-78"/>
                        <a:cs typeface="Cairo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688146"/>
                  </a:ext>
                </a:extLst>
              </a:tr>
              <a:tr h="714531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b="1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Synchronous or Asynchronous?</a:t>
                      </a:r>
                      <a:endParaRPr lang="en-US" b="1" dirty="0">
                        <a:solidFill>
                          <a:schemeClr val="bg1"/>
                        </a:solidFill>
                        <a:latin typeface="Cairo" pitchFamily="2" charset="-78"/>
                        <a:cs typeface="Cairo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Synchronous</a:t>
                      </a:r>
                      <a:endParaRPr lang="en-US" b="0" dirty="0">
                        <a:solidFill>
                          <a:schemeClr val="bg1"/>
                        </a:solidFill>
                        <a:latin typeface="Cairo" pitchFamily="2" charset="-78"/>
                        <a:cs typeface="Cairo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522719"/>
                  </a:ext>
                </a:extLst>
              </a:tr>
              <a:tr h="714531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b="1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Serial or</a:t>
                      </a:r>
                      <a:r>
                        <a:rPr lang="en-US" b="1" baseline="0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 Parallel ?</a:t>
                      </a:r>
                      <a:endParaRPr lang="en-US" b="1" dirty="0">
                        <a:solidFill>
                          <a:schemeClr val="bg1"/>
                        </a:solidFill>
                        <a:latin typeface="Cairo" pitchFamily="2" charset="-78"/>
                        <a:cs typeface="Cairo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Serial</a:t>
                      </a:r>
                      <a:endParaRPr lang="en-US" b="0" dirty="0">
                        <a:solidFill>
                          <a:schemeClr val="bg1"/>
                        </a:solidFill>
                        <a:latin typeface="Cairo" pitchFamily="2" charset="-78"/>
                        <a:cs typeface="Cairo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157577"/>
                  </a:ext>
                </a:extLst>
              </a:tr>
              <a:tr h="714531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b="1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Max #</a:t>
                      </a:r>
                      <a:r>
                        <a:rPr lang="en-US" b="1" baseline="0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 of Masters</a:t>
                      </a:r>
                      <a:endParaRPr lang="en-US" b="1" dirty="0">
                        <a:solidFill>
                          <a:schemeClr val="bg1"/>
                        </a:solidFill>
                        <a:latin typeface="Cairo" pitchFamily="2" charset="-78"/>
                        <a:cs typeface="Cairo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Unlimited</a:t>
                      </a:r>
                      <a:endParaRPr lang="en-US" b="0" dirty="0">
                        <a:solidFill>
                          <a:schemeClr val="bg1"/>
                        </a:solidFill>
                        <a:latin typeface="Cairo" pitchFamily="2" charset="-78"/>
                        <a:cs typeface="Cairo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234593"/>
                  </a:ext>
                </a:extLst>
              </a:tr>
              <a:tr h="714531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b="1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Max #</a:t>
                      </a:r>
                      <a:r>
                        <a:rPr lang="en-US" b="1" baseline="0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 of Slaves</a:t>
                      </a:r>
                      <a:endParaRPr lang="en-US" b="1" dirty="0">
                        <a:solidFill>
                          <a:schemeClr val="bg1"/>
                        </a:solidFill>
                        <a:latin typeface="Cairo" pitchFamily="2" charset="-78"/>
                        <a:cs typeface="Cairo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  <a:latin typeface="Cairo" pitchFamily="2" charset="-78"/>
                          <a:cs typeface="Cairo" pitchFamily="2" charset="-78"/>
                        </a:rPr>
                        <a:t>1008</a:t>
                      </a:r>
                      <a:endParaRPr lang="en-US" b="0" dirty="0">
                        <a:solidFill>
                          <a:schemeClr val="bg1"/>
                        </a:solidFill>
                        <a:latin typeface="Cairo" pitchFamily="2" charset="-78"/>
                        <a:cs typeface="Cairo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053080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4223262" y="1247972"/>
            <a:ext cx="7158330" cy="486237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13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811191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How I2C Work ?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sp>
        <p:nvSpPr>
          <p:cNvPr id="25" name="Title 1"/>
          <p:cNvSpPr txBox="1">
            <a:spLocks/>
          </p:cNvSpPr>
          <p:nvPr/>
        </p:nvSpPr>
        <p:spPr>
          <a:xfrm>
            <a:off x="337006" y="1319916"/>
            <a:ext cx="8850025" cy="8638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SDA (Serial Data) </a:t>
            </a:r>
            <a:r>
              <a:rPr lang="en-US" sz="20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: </a:t>
            </a:r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The line for the master and slave to send and receive data.</a:t>
            </a:r>
          </a:p>
          <a:p>
            <a:pPr algn="l"/>
            <a:r>
              <a:rPr lang="en-US" sz="20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SCL (Serial Clock) </a:t>
            </a:r>
            <a:r>
              <a:rPr lang="en-US" sz="20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: </a:t>
            </a:r>
            <a:r>
              <a:rPr lang="en-US" sz="2000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The line that carries the clock signal.</a:t>
            </a:r>
          </a:p>
          <a:p>
            <a:pPr algn="l"/>
            <a:endParaRPr lang="en-US" sz="2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0944747" y="-7116"/>
            <a:ext cx="1254369" cy="393992"/>
            <a:chOff x="10937631" y="0"/>
            <a:chExt cx="1254369" cy="393992"/>
          </a:xfrm>
        </p:grpSpPr>
        <p:sp>
          <p:nvSpPr>
            <p:cNvPr id="7" name="Rectangle 6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10937631" y="44774"/>
              <a:ext cx="1254369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ESP 8266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3" name="Rounded Rectangle 2"/>
          <p:cNvSpPr/>
          <p:nvPr/>
        </p:nvSpPr>
        <p:spPr>
          <a:xfrm>
            <a:off x="3797448" y="2119258"/>
            <a:ext cx="7530353" cy="383024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asics of the I2C Communication Protocol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875" y="2313996"/>
            <a:ext cx="7044354" cy="34515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694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3600293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I2C Frames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0944747" y="-7116"/>
            <a:ext cx="1254369" cy="393992"/>
            <a:chOff x="10937631" y="0"/>
            <a:chExt cx="1254369" cy="393992"/>
          </a:xfrm>
        </p:grpSpPr>
        <p:sp>
          <p:nvSpPr>
            <p:cNvPr id="7" name="Rectangle 6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10937631" y="44774"/>
              <a:ext cx="1254369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ESP 8266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212815" y="1885277"/>
            <a:ext cx="8624114" cy="3087445"/>
            <a:chOff x="774552" y="2119258"/>
            <a:chExt cx="10553250" cy="2947594"/>
          </a:xfrm>
        </p:grpSpPr>
        <p:sp>
          <p:nvSpPr>
            <p:cNvPr id="3" name="Rounded Rectangle 2"/>
            <p:cNvSpPr/>
            <p:nvPr/>
          </p:nvSpPr>
          <p:spPr>
            <a:xfrm>
              <a:off x="774552" y="2119258"/>
              <a:ext cx="10553250" cy="294759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Introduction to I2C - Message, Frame, and Bit">
              <a:hlinkClick r:id="rId4" tgtFrame="&quot;_blank&quot;"/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2765" y="2312216"/>
              <a:ext cx="10156824" cy="25616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Rectangle 4"/>
          <p:cNvSpPr/>
          <p:nvPr/>
        </p:nvSpPr>
        <p:spPr>
          <a:xfrm>
            <a:off x="337006" y="2247906"/>
            <a:ext cx="2538803" cy="2362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Cairo" pitchFamily="2" charset="-78"/>
                <a:ea typeface="Calibri" panose="020F0502020204030204" pitchFamily="34" charset="0"/>
                <a:cs typeface="Cairo" pitchFamily="2" charset="-78"/>
              </a:rPr>
              <a:t>Start </a:t>
            </a:r>
            <a:r>
              <a:rPr lang="en-US" sz="2000" b="1" dirty="0" smtClean="0">
                <a:solidFill>
                  <a:schemeClr val="bg1"/>
                </a:solidFill>
                <a:latin typeface="Cairo" pitchFamily="2" charset="-78"/>
                <a:ea typeface="Calibri" panose="020F0502020204030204" pitchFamily="34" charset="0"/>
                <a:cs typeface="Cairo" pitchFamily="2" charset="-78"/>
              </a:rPr>
              <a:t>Condition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Cairo" pitchFamily="2" charset="-78"/>
                <a:ea typeface="Calibri" panose="020F0502020204030204" pitchFamily="34" charset="0"/>
                <a:cs typeface="Cairo" pitchFamily="2" charset="-78"/>
              </a:rPr>
              <a:t>Stop </a:t>
            </a:r>
            <a:r>
              <a:rPr lang="en-US" sz="2000" b="1" dirty="0" smtClean="0">
                <a:solidFill>
                  <a:schemeClr val="bg1"/>
                </a:solidFill>
                <a:latin typeface="Cairo" pitchFamily="2" charset="-78"/>
                <a:ea typeface="Calibri" panose="020F0502020204030204" pitchFamily="34" charset="0"/>
                <a:cs typeface="Cairo" pitchFamily="2" charset="-78"/>
              </a:rPr>
              <a:t>Condition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Address </a:t>
            </a:r>
            <a:r>
              <a:rPr lang="en-US" sz="20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Frame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Read/Write </a:t>
            </a:r>
            <a:r>
              <a:rPr lang="en-US" sz="20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Bit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ACK/NACK Bit</a:t>
            </a:r>
          </a:p>
        </p:txBody>
      </p:sp>
    </p:spTree>
    <p:extLst>
      <p:ext uri="{BB962C8B-B14F-4D97-AF65-F5344CB8AC3E}">
        <p14:creationId xmlns:p14="http://schemas.microsoft.com/office/powerpoint/2010/main" val="1910097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9237300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STEPS OF I2C DATA TRANSMISSION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0944747" y="-7116"/>
            <a:ext cx="1254369" cy="393992"/>
            <a:chOff x="10937631" y="0"/>
            <a:chExt cx="1254369" cy="393992"/>
          </a:xfrm>
        </p:grpSpPr>
        <p:sp>
          <p:nvSpPr>
            <p:cNvPr id="7" name="Rectangle 6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10937631" y="44774"/>
              <a:ext cx="1254369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ESP 8266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3" name="Rounded Rectangle 2"/>
          <p:cNvSpPr/>
          <p:nvPr/>
        </p:nvSpPr>
        <p:spPr>
          <a:xfrm>
            <a:off x="3259567" y="1301674"/>
            <a:ext cx="6121102" cy="45940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832318" y="3066840"/>
            <a:ext cx="97542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[1]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653" y="1440691"/>
            <a:ext cx="5154442" cy="433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1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9237300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STEPS OF I2C DATA TRANSMISSION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0944747" y="-7116"/>
            <a:ext cx="1254369" cy="393992"/>
            <a:chOff x="10937631" y="0"/>
            <a:chExt cx="1254369" cy="393992"/>
          </a:xfrm>
        </p:grpSpPr>
        <p:sp>
          <p:nvSpPr>
            <p:cNvPr id="7" name="Rectangle 6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10937631" y="44774"/>
              <a:ext cx="1254369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ESP 8266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3" name="Rounded Rectangle 2"/>
          <p:cNvSpPr/>
          <p:nvPr/>
        </p:nvSpPr>
        <p:spPr>
          <a:xfrm>
            <a:off x="3259567" y="1301674"/>
            <a:ext cx="6121102" cy="45940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832318" y="3066840"/>
            <a:ext cx="97542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[2]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965" y="1441525"/>
            <a:ext cx="4916245" cy="4352642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8602437" y="2237591"/>
            <a:ext cx="778232" cy="4347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b="1" dirty="0" smtClean="0">
                <a:solidFill>
                  <a:srgbClr val="FF0000"/>
                </a:solidFill>
                <a:latin typeface="Cairo" pitchFamily="2" charset="-78"/>
                <a:cs typeface="Cairo" pitchFamily="2" charset="-78"/>
              </a:rPr>
              <a:t>Address</a:t>
            </a:r>
          </a:p>
          <a:p>
            <a:r>
              <a:rPr lang="en-US" sz="1100" b="1" dirty="0" smtClean="0">
                <a:solidFill>
                  <a:srgbClr val="FF0000"/>
                </a:solidFill>
                <a:latin typeface="Cairo" pitchFamily="2" charset="-78"/>
                <a:cs typeface="Cairo" pitchFamily="2" charset="-78"/>
              </a:rPr>
              <a:t>0110000</a:t>
            </a:r>
            <a:endParaRPr lang="en-US" sz="1100" b="1" dirty="0">
              <a:solidFill>
                <a:srgbClr val="FF0000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8602437" y="3581107"/>
            <a:ext cx="778232" cy="4347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b="1" dirty="0" smtClean="0">
                <a:solidFill>
                  <a:srgbClr val="FF0000"/>
                </a:solidFill>
                <a:latin typeface="Cairo" pitchFamily="2" charset="-78"/>
                <a:cs typeface="Cairo" pitchFamily="2" charset="-78"/>
              </a:rPr>
              <a:t>Address</a:t>
            </a:r>
          </a:p>
          <a:p>
            <a:r>
              <a:rPr lang="en-US" sz="1100" b="1" dirty="0" smtClean="0">
                <a:solidFill>
                  <a:srgbClr val="FF0000"/>
                </a:solidFill>
                <a:latin typeface="Cairo" pitchFamily="2" charset="-78"/>
                <a:cs typeface="Cairo" pitchFamily="2" charset="-78"/>
              </a:rPr>
              <a:t>1001000</a:t>
            </a:r>
            <a:endParaRPr lang="en-US" sz="1100" b="1" dirty="0">
              <a:solidFill>
                <a:srgbClr val="FF0000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8602437" y="4955706"/>
            <a:ext cx="778232" cy="4347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b="1" dirty="0" smtClean="0">
                <a:solidFill>
                  <a:srgbClr val="00B050"/>
                </a:solidFill>
                <a:latin typeface="Cairo" pitchFamily="2" charset="-78"/>
                <a:cs typeface="Cairo" pitchFamily="2" charset="-78"/>
              </a:rPr>
              <a:t>Address</a:t>
            </a:r>
          </a:p>
          <a:p>
            <a:r>
              <a:rPr lang="en-US" sz="1100" b="1" dirty="0" smtClean="0">
                <a:solidFill>
                  <a:srgbClr val="00B050"/>
                </a:solidFill>
                <a:latin typeface="Cairo" pitchFamily="2" charset="-78"/>
                <a:cs typeface="Cairo" pitchFamily="2" charset="-78"/>
              </a:rPr>
              <a:t>0101101</a:t>
            </a:r>
            <a:endParaRPr lang="en-US" sz="1100" b="1" dirty="0">
              <a:solidFill>
                <a:srgbClr val="00B050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8078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9237300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STEPS OF I2C DATA TRANSMISSION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0944747" y="-7116"/>
            <a:ext cx="1254369" cy="393992"/>
            <a:chOff x="10937631" y="0"/>
            <a:chExt cx="1254369" cy="393992"/>
          </a:xfrm>
        </p:grpSpPr>
        <p:sp>
          <p:nvSpPr>
            <p:cNvPr id="7" name="Rectangle 6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10937631" y="44774"/>
              <a:ext cx="1254369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ESP 8266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3" name="Rounded Rectangle 2"/>
          <p:cNvSpPr/>
          <p:nvPr/>
        </p:nvSpPr>
        <p:spPr>
          <a:xfrm>
            <a:off x="3259567" y="1301674"/>
            <a:ext cx="6121102" cy="45940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832318" y="3066840"/>
            <a:ext cx="97542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[3]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360" y="1440063"/>
            <a:ext cx="5193243" cy="4390588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8602437" y="2237591"/>
            <a:ext cx="778232" cy="4347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b="1" dirty="0" smtClean="0">
                <a:solidFill>
                  <a:srgbClr val="FF0000"/>
                </a:solidFill>
                <a:latin typeface="Cairo" pitchFamily="2" charset="-78"/>
                <a:cs typeface="Cairo" pitchFamily="2" charset="-78"/>
              </a:rPr>
              <a:t>Address</a:t>
            </a:r>
          </a:p>
          <a:p>
            <a:r>
              <a:rPr lang="en-US" sz="1100" b="1" dirty="0" smtClean="0">
                <a:solidFill>
                  <a:srgbClr val="FF0000"/>
                </a:solidFill>
                <a:latin typeface="Cairo" pitchFamily="2" charset="-78"/>
                <a:cs typeface="Cairo" pitchFamily="2" charset="-78"/>
              </a:rPr>
              <a:t>0110000</a:t>
            </a:r>
            <a:endParaRPr lang="en-US" sz="1100" b="1" dirty="0">
              <a:solidFill>
                <a:srgbClr val="FF0000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8602437" y="3581107"/>
            <a:ext cx="778232" cy="4347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b="1" dirty="0" smtClean="0">
                <a:solidFill>
                  <a:srgbClr val="FF0000"/>
                </a:solidFill>
                <a:latin typeface="Cairo" pitchFamily="2" charset="-78"/>
                <a:cs typeface="Cairo" pitchFamily="2" charset="-78"/>
              </a:rPr>
              <a:t>Address</a:t>
            </a:r>
          </a:p>
          <a:p>
            <a:r>
              <a:rPr lang="en-US" sz="1100" b="1" dirty="0" smtClean="0">
                <a:solidFill>
                  <a:srgbClr val="FF0000"/>
                </a:solidFill>
                <a:latin typeface="Cairo" pitchFamily="2" charset="-78"/>
                <a:cs typeface="Cairo" pitchFamily="2" charset="-78"/>
              </a:rPr>
              <a:t>1001000</a:t>
            </a:r>
            <a:endParaRPr lang="en-US" sz="1100" b="1" dirty="0">
              <a:solidFill>
                <a:srgbClr val="FF0000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8602437" y="4955706"/>
            <a:ext cx="778232" cy="4347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b="1" dirty="0" smtClean="0">
                <a:solidFill>
                  <a:srgbClr val="00B050"/>
                </a:solidFill>
                <a:latin typeface="Cairo" pitchFamily="2" charset="-78"/>
                <a:cs typeface="Cairo" pitchFamily="2" charset="-78"/>
              </a:rPr>
              <a:t>Address</a:t>
            </a:r>
          </a:p>
          <a:p>
            <a:r>
              <a:rPr lang="en-US" sz="1100" b="1" dirty="0" smtClean="0">
                <a:solidFill>
                  <a:srgbClr val="00B050"/>
                </a:solidFill>
                <a:latin typeface="Cairo" pitchFamily="2" charset="-78"/>
                <a:cs typeface="Cairo" pitchFamily="2" charset="-78"/>
              </a:rPr>
              <a:t>0101101</a:t>
            </a:r>
            <a:endParaRPr lang="en-US" sz="1100" b="1" dirty="0">
              <a:solidFill>
                <a:srgbClr val="00B050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26671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9237300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STEPS OF I2C DATA TRANSMISSION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0944747" y="-7116"/>
            <a:ext cx="1254369" cy="393992"/>
            <a:chOff x="10937631" y="0"/>
            <a:chExt cx="1254369" cy="393992"/>
          </a:xfrm>
        </p:grpSpPr>
        <p:sp>
          <p:nvSpPr>
            <p:cNvPr id="7" name="Rectangle 6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10937631" y="44774"/>
              <a:ext cx="1254369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ESP 8266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3" name="Rounded Rectangle 2"/>
          <p:cNvSpPr/>
          <p:nvPr/>
        </p:nvSpPr>
        <p:spPr>
          <a:xfrm>
            <a:off x="3259567" y="1301674"/>
            <a:ext cx="6121102" cy="45940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832318" y="3066840"/>
            <a:ext cx="97542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[4]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555" y="1393547"/>
            <a:ext cx="5004164" cy="439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2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9237300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STEPS OF I2C DATA TRANSMISSION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0944747" y="-7116"/>
            <a:ext cx="1254369" cy="393992"/>
            <a:chOff x="10937631" y="0"/>
            <a:chExt cx="1254369" cy="393992"/>
          </a:xfrm>
        </p:grpSpPr>
        <p:sp>
          <p:nvSpPr>
            <p:cNvPr id="7" name="Rectangle 6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10937631" y="44774"/>
              <a:ext cx="1254369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ESP 8266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3" name="Rounded Rectangle 2"/>
          <p:cNvSpPr/>
          <p:nvPr/>
        </p:nvSpPr>
        <p:spPr>
          <a:xfrm>
            <a:off x="3259567" y="1301674"/>
            <a:ext cx="6121102" cy="45940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832318" y="3066840"/>
            <a:ext cx="97542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[5]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090" y="1386371"/>
            <a:ext cx="4889159" cy="44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3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9237300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STEPS OF I2C DATA TRANSMISSION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0944747" y="-7116"/>
            <a:ext cx="1254369" cy="393992"/>
            <a:chOff x="10937631" y="0"/>
            <a:chExt cx="1254369" cy="393992"/>
          </a:xfrm>
        </p:grpSpPr>
        <p:sp>
          <p:nvSpPr>
            <p:cNvPr id="7" name="Rectangle 6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10937631" y="44774"/>
              <a:ext cx="1254369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ESP 8266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3" name="Rounded Rectangle 2"/>
          <p:cNvSpPr/>
          <p:nvPr/>
        </p:nvSpPr>
        <p:spPr>
          <a:xfrm>
            <a:off x="3259567" y="1301674"/>
            <a:ext cx="6121102" cy="45940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832318" y="3066840"/>
            <a:ext cx="97542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[6]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905" y="1394706"/>
            <a:ext cx="5013068" cy="44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37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53" y="5895716"/>
            <a:ext cx="2336693" cy="742987"/>
          </a:xfrm>
          <a:prstGeom prst="rect">
            <a:avLst/>
          </a:prstGeom>
        </p:spPr>
      </p:pic>
      <p:sp>
        <p:nvSpPr>
          <p:cNvPr id="30" name="Title 1"/>
          <p:cNvSpPr txBox="1">
            <a:spLocks/>
          </p:cNvSpPr>
          <p:nvPr/>
        </p:nvSpPr>
        <p:spPr>
          <a:xfrm>
            <a:off x="0" y="2915323"/>
            <a:ext cx="12192000" cy="10185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Hardware</a:t>
            </a:r>
            <a:endParaRPr lang="en-US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8522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Basic Components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0854726" y="-7116"/>
            <a:ext cx="1355408" cy="393992"/>
            <a:chOff x="10836593" y="0"/>
            <a:chExt cx="1355408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836593" y="44774"/>
              <a:ext cx="1355408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Hardware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2" name="Title 1"/>
          <p:cNvSpPr txBox="1">
            <a:spLocks/>
          </p:cNvSpPr>
          <p:nvPr/>
        </p:nvSpPr>
        <p:spPr>
          <a:xfrm>
            <a:off x="337006" y="1423794"/>
            <a:ext cx="8906146" cy="48509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Arduino Uno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ESP2866-12E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L298d H-Bridge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DC-DC Converter Booster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Servo </a:t>
            </a:r>
            <a:r>
              <a:rPr lang="en-US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Motor </a:t>
            </a: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180° 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DC Motor 5V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Li ion Charger Module 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I2C Logic Converter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Battery Li ion 3.7V-2200mAh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800" b="1" dirty="0" smtClean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800" b="1" dirty="0" smtClean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8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98796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NodeMCU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0854726" y="-7116"/>
            <a:ext cx="1355408" cy="393992"/>
            <a:chOff x="10836593" y="0"/>
            <a:chExt cx="1355408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836593" y="44774"/>
              <a:ext cx="1355408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Hardware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3" name="Oval 12"/>
          <p:cNvSpPr/>
          <p:nvPr/>
        </p:nvSpPr>
        <p:spPr>
          <a:xfrm>
            <a:off x="4924371" y="621312"/>
            <a:ext cx="5607365" cy="560736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88" t="18439" r="15781" b="13474"/>
          <a:stretch/>
        </p:blipFill>
        <p:spPr>
          <a:xfrm>
            <a:off x="5260489" y="1583139"/>
            <a:ext cx="4667368" cy="376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63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DC </a:t>
            </a:r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H-Bridge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0854726" y="-7116"/>
            <a:ext cx="1355408" cy="393992"/>
            <a:chOff x="10836593" y="0"/>
            <a:chExt cx="1355408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836593" y="44774"/>
              <a:ext cx="1355408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Hardware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4" name="Oval 13"/>
          <p:cNvSpPr/>
          <p:nvPr/>
        </p:nvSpPr>
        <p:spPr>
          <a:xfrm>
            <a:off x="4924371" y="621312"/>
            <a:ext cx="5607365" cy="560736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98" t="9726" r="21843" b="12313"/>
          <a:stretch/>
        </p:blipFill>
        <p:spPr>
          <a:xfrm>
            <a:off x="5757781" y="1115719"/>
            <a:ext cx="3946627" cy="43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0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0854726" y="-7116"/>
            <a:ext cx="1355408" cy="393992"/>
            <a:chOff x="10836593" y="0"/>
            <a:chExt cx="1355408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836593" y="44774"/>
              <a:ext cx="1355408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Hardware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2" name="Title 1"/>
          <p:cNvSpPr txBox="1">
            <a:spLocks/>
          </p:cNvSpPr>
          <p:nvPr/>
        </p:nvSpPr>
        <p:spPr>
          <a:xfrm>
            <a:off x="337006" y="-7115"/>
            <a:ext cx="6924406" cy="10637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DC-DC Converter Booster</a:t>
            </a:r>
          </a:p>
        </p:txBody>
      </p:sp>
      <p:sp>
        <p:nvSpPr>
          <p:cNvPr id="15" name="Oval 14"/>
          <p:cNvSpPr/>
          <p:nvPr/>
        </p:nvSpPr>
        <p:spPr>
          <a:xfrm>
            <a:off x="4924371" y="621312"/>
            <a:ext cx="5607365" cy="560736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56" y="1722650"/>
            <a:ext cx="4272560" cy="324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9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0854726" y="-7116"/>
            <a:ext cx="1355408" cy="393992"/>
            <a:chOff x="10836593" y="0"/>
            <a:chExt cx="1355408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836593" y="44774"/>
              <a:ext cx="1355408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Hardware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2" name="Title 1"/>
          <p:cNvSpPr txBox="1">
            <a:spLocks/>
          </p:cNvSpPr>
          <p:nvPr/>
        </p:nvSpPr>
        <p:spPr>
          <a:xfrm>
            <a:off x="337006" y="-7115"/>
            <a:ext cx="6924406" cy="9981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I2C Logic Converter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924371" y="621312"/>
            <a:ext cx="5607365" cy="560736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" t="13490" r="2732" b="14981"/>
          <a:stretch/>
        </p:blipFill>
        <p:spPr>
          <a:xfrm>
            <a:off x="5626249" y="1837709"/>
            <a:ext cx="4249269" cy="320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05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0854726" y="-7116"/>
            <a:ext cx="1355408" cy="393992"/>
            <a:chOff x="10836593" y="0"/>
            <a:chExt cx="1355408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836593" y="44774"/>
              <a:ext cx="1355408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Hardware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2" name="Title 1"/>
          <p:cNvSpPr txBox="1">
            <a:spLocks/>
          </p:cNvSpPr>
          <p:nvPr/>
        </p:nvSpPr>
        <p:spPr>
          <a:xfrm>
            <a:off x="337006" y="478878"/>
            <a:ext cx="5278486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Li ion </a:t>
            </a:r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Charger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924371" y="621312"/>
            <a:ext cx="5607365" cy="560736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9" t="7215" r="5085" b="17961"/>
          <a:stretch/>
        </p:blipFill>
        <p:spPr>
          <a:xfrm>
            <a:off x="5757781" y="1976002"/>
            <a:ext cx="3868513" cy="320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5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0854726" y="-7116"/>
            <a:ext cx="1355408" cy="393992"/>
            <a:chOff x="10836593" y="0"/>
            <a:chExt cx="1355408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836593" y="44774"/>
              <a:ext cx="1355408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Hardware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2" name="Title 1"/>
          <p:cNvSpPr txBox="1">
            <a:spLocks/>
          </p:cNvSpPr>
          <p:nvPr/>
        </p:nvSpPr>
        <p:spPr>
          <a:xfrm>
            <a:off x="337006" y="478878"/>
            <a:ext cx="6924406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Battery Li ion 3.7V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924371" y="621312"/>
            <a:ext cx="5607365" cy="560736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61" b="4894"/>
          <a:stretch/>
        </p:blipFill>
        <p:spPr>
          <a:xfrm>
            <a:off x="5670002" y="1682075"/>
            <a:ext cx="4116101" cy="350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7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0854726" y="-7116"/>
            <a:ext cx="1355408" cy="393992"/>
            <a:chOff x="10836593" y="0"/>
            <a:chExt cx="1355408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836593" y="44774"/>
              <a:ext cx="1355408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Hardware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2" name="Title 1"/>
          <p:cNvSpPr txBox="1">
            <a:spLocks/>
          </p:cNvSpPr>
          <p:nvPr/>
        </p:nvSpPr>
        <p:spPr>
          <a:xfrm>
            <a:off x="337006" y="478878"/>
            <a:ext cx="6924406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Servo Motor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924371" y="621312"/>
            <a:ext cx="5607365" cy="560736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8" t="6907" r="5949" b="10457"/>
          <a:stretch/>
        </p:blipFill>
        <p:spPr>
          <a:xfrm>
            <a:off x="5353617" y="2150690"/>
            <a:ext cx="4726298" cy="246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81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0854726" y="-7116"/>
            <a:ext cx="1355408" cy="393992"/>
            <a:chOff x="10836593" y="0"/>
            <a:chExt cx="1355408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836593" y="44774"/>
              <a:ext cx="1355408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Hardware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2" name="Title 1"/>
          <p:cNvSpPr txBox="1">
            <a:spLocks/>
          </p:cNvSpPr>
          <p:nvPr/>
        </p:nvSpPr>
        <p:spPr>
          <a:xfrm>
            <a:off x="337005" y="-7116"/>
            <a:ext cx="4332030" cy="12103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Car Circuit PCB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8" name="Picture 7"/>
          <p:cNvPicPr/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311" t="14003" r="10019" b="1093"/>
          <a:stretch/>
        </p:blipFill>
        <p:spPr>
          <a:xfrm>
            <a:off x="4687169" y="1203197"/>
            <a:ext cx="7003355" cy="5303369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4687170" y="-7116"/>
            <a:ext cx="7003354" cy="11918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Top Part</a:t>
            </a:r>
            <a:endParaRPr lang="en-US" sz="32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5316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0854726" y="-7116"/>
            <a:ext cx="1355408" cy="393992"/>
            <a:chOff x="10836593" y="0"/>
            <a:chExt cx="1355408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836593" y="44774"/>
              <a:ext cx="1355408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Hardware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2" name="Title 1"/>
          <p:cNvSpPr txBox="1">
            <a:spLocks/>
          </p:cNvSpPr>
          <p:nvPr/>
        </p:nvSpPr>
        <p:spPr>
          <a:xfrm>
            <a:off x="337006" y="-7116"/>
            <a:ext cx="3848688" cy="12103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Car Circuit PCB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9" name="Picture 8"/>
          <p:cNvPicPr/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39" t="10469" r="2367" b="2993"/>
          <a:stretch/>
        </p:blipFill>
        <p:spPr>
          <a:xfrm>
            <a:off x="4687169" y="1210313"/>
            <a:ext cx="7012421" cy="5303369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4687170" y="-7116"/>
            <a:ext cx="7003354" cy="11918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Bottom Part</a:t>
            </a:r>
            <a:endParaRPr lang="en-US" sz="32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8777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53" y="5895716"/>
            <a:ext cx="2336693" cy="742987"/>
          </a:xfrm>
          <a:prstGeom prst="rect">
            <a:avLst/>
          </a:prstGeom>
        </p:spPr>
      </p:pic>
      <p:sp>
        <p:nvSpPr>
          <p:cNvPr id="30" name="Title 1"/>
          <p:cNvSpPr txBox="1">
            <a:spLocks/>
          </p:cNvSpPr>
          <p:nvPr/>
        </p:nvSpPr>
        <p:spPr>
          <a:xfrm>
            <a:off x="0" y="2915323"/>
            <a:ext cx="12192000" cy="10185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Software</a:t>
            </a:r>
            <a:endParaRPr lang="en-US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3890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Software Parts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007090" y="-7116"/>
            <a:ext cx="1203044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Software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2" name="Title 1"/>
          <p:cNvSpPr txBox="1">
            <a:spLocks/>
          </p:cNvSpPr>
          <p:nvPr/>
        </p:nvSpPr>
        <p:spPr>
          <a:xfrm>
            <a:off x="337006" y="1423794"/>
            <a:ext cx="8906146" cy="26641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Mobile Application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Arduino </a:t>
            </a:r>
            <a:r>
              <a:rPr lang="en-US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Uno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ESP2866</a:t>
            </a:r>
          </a:p>
          <a:p>
            <a:pPr algn="l"/>
            <a:endParaRPr lang="en-US" sz="2800" b="1" dirty="0" smtClean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800" b="1" dirty="0" smtClean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8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82523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Mobile Application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"/>
          <a:stretch/>
        </p:blipFill>
        <p:spPr>
          <a:xfrm>
            <a:off x="5346550" y="-7116"/>
            <a:ext cx="6845449" cy="6894786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007090" y="-7116"/>
            <a:ext cx="1203044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Software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107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Mobile Application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007090" y="-7116"/>
            <a:ext cx="1203044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Software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0" name="Title 1"/>
          <p:cNvSpPr txBox="1">
            <a:spLocks/>
          </p:cNvSpPr>
          <p:nvPr/>
        </p:nvSpPr>
        <p:spPr>
          <a:xfrm>
            <a:off x="337006" y="1210313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UI Design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59101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Mobile Application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884" y="-7116"/>
            <a:ext cx="6865116" cy="6865116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007090" y="-7116"/>
            <a:ext cx="1203044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Software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0" name="Title 1"/>
          <p:cNvSpPr txBox="1">
            <a:spLocks/>
          </p:cNvSpPr>
          <p:nvPr/>
        </p:nvSpPr>
        <p:spPr>
          <a:xfrm>
            <a:off x="337006" y="1210313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UI Design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9437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Mobile Application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883" y="-7117"/>
            <a:ext cx="6865117" cy="686511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007090" y="-7116"/>
            <a:ext cx="1203044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Software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0" name="Title 1"/>
          <p:cNvSpPr txBox="1">
            <a:spLocks/>
          </p:cNvSpPr>
          <p:nvPr/>
        </p:nvSpPr>
        <p:spPr>
          <a:xfrm>
            <a:off x="337006" y="1210313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UI Design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2959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Mobile Application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882" y="-7118"/>
            <a:ext cx="6865118" cy="6865118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007090" y="-7116"/>
            <a:ext cx="1203044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Software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0" name="Title 1"/>
          <p:cNvSpPr txBox="1">
            <a:spLocks/>
          </p:cNvSpPr>
          <p:nvPr/>
        </p:nvSpPr>
        <p:spPr>
          <a:xfrm>
            <a:off x="337006" y="1210313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UI Design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33298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Mobile Application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882" y="-7118"/>
            <a:ext cx="6865118" cy="6865118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007090" y="-7116"/>
            <a:ext cx="1203044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Software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0" name="Title 1"/>
          <p:cNvSpPr txBox="1">
            <a:spLocks/>
          </p:cNvSpPr>
          <p:nvPr/>
        </p:nvSpPr>
        <p:spPr>
          <a:xfrm>
            <a:off x="337006" y="1210313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UI Design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112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Mobile Application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882" y="-7118"/>
            <a:ext cx="6865118" cy="6865118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007090" y="-7116"/>
            <a:ext cx="1203044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Software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0" name="Title 1"/>
          <p:cNvSpPr txBox="1">
            <a:spLocks/>
          </p:cNvSpPr>
          <p:nvPr/>
        </p:nvSpPr>
        <p:spPr>
          <a:xfrm>
            <a:off x="337006" y="1210313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UI Design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8071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Mobile Application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882" y="-7118"/>
            <a:ext cx="6865118" cy="6865118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007090" y="-7116"/>
            <a:ext cx="1203044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Software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0" name="Title 1"/>
          <p:cNvSpPr txBox="1">
            <a:spLocks/>
          </p:cNvSpPr>
          <p:nvPr/>
        </p:nvSpPr>
        <p:spPr>
          <a:xfrm>
            <a:off x="337006" y="1210313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UI Design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0294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5353789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Application Building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007090" y="-7116"/>
            <a:ext cx="1203044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Software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8" name="Title 1"/>
          <p:cNvSpPr txBox="1">
            <a:spLocks/>
          </p:cNvSpPr>
          <p:nvPr/>
        </p:nvSpPr>
        <p:spPr>
          <a:xfrm>
            <a:off x="337006" y="1210313"/>
            <a:ext cx="11227465" cy="12726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 preliminary application was designed </a:t>
            </a: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by “MIT App Inventor” website until </a:t>
            </a:r>
            <a:r>
              <a:rPr lang="en-US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the project is developed further in the future, as we will know </a:t>
            </a: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in </a:t>
            </a:r>
            <a:r>
              <a:rPr lang="en-US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the </a:t>
            </a: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“future </a:t>
            </a:r>
            <a:r>
              <a:rPr lang="en-US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of the </a:t>
            </a: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project” part.</a:t>
            </a:r>
            <a:endParaRPr lang="en-US" sz="28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579" y="3074909"/>
            <a:ext cx="7924800" cy="279654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109286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-7116"/>
            <a:ext cx="4752787" cy="8454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Arduino Coding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007090" y="-7116"/>
            <a:ext cx="1203044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Software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7" t="5384" r="7924" b="1652"/>
          <a:stretch/>
        </p:blipFill>
        <p:spPr>
          <a:xfrm>
            <a:off x="3503364" y="847568"/>
            <a:ext cx="8413252" cy="575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7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007090" y="-7116"/>
            <a:ext cx="1203044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Software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5" t="9615" r="4632" b="8187"/>
          <a:stretch/>
        </p:blipFill>
        <p:spPr>
          <a:xfrm>
            <a:off x="2913887" y="1043492"/>
            <a:ext cx="8958582" cy="5307587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337006" y="-7116"/>
            <a:ext cx="4568481" cy="8454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ESP-8266 Coding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256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53" y="5895716"/>
            <a:ext cx="2336693" cy="742987"/>
          </a:xfrm>
          <a:prstGeom prst="rect">
            <a:avLst/>
          </a:prstGeom>
        </p:spPr>
      </p:pic>
      <p:sp>
        <p:nvSpPr>
          <p:cNvPr id="30" name="Title 1"/>
          <p:cNvSpPr txBox="1">
            <a:spLocks/>
          </p:cNvSpPr>
          <p:nvPr/>
        </p:nvSpPr>
        <p:spPr>
          <a:xfrm>
            <a:off x="0" y="2915323"/>
            <a:ext cx="12192000" cy="10185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Future Of Project</a:t>
            </a:r>
            <a:endParaRPr lang="en-US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35469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752787" cy="7243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Future Plans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274014" y="-7116"/>
            <a:ext cx="936120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Future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9" name="Title 1"/>
          <p:cNvSpPr txBox="1">
            <a:spLocks/>
          </p:cNvSpPr>
          <p:nvPr/>
        </p:nvSpPr>
        <p:spPr>
          <a:xfrm>
            <a:off x="337006" y="1423793"/>
            <a:ext cx="8906146" cy="36430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Artificial </a:t>
            </a: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Intelligence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Emergency Response and Autonomous </a:t>
            </a: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Driving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Driver </a:t>
            </a: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Profiling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Driver </a:t>
            </a: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Feedback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Cloud-Based </a:t>
            </a: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Storage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Internet of Things (IoT</a:t>
            </a: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)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Sensor </a:t>
            </a:r>
            <a:r>
              <a:rPr lang="en-US" sz="28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Fusion Technology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800" b="1" dirty="0" smtClean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8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47598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604621" cy="13714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Artificial Intelligence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1"/>
          <a:stretch/>
        </p:blipFill>
        <p:spPr>
          <a:xfrm>
            <a:off x="4941627" y="0"/>
            <a:ext cx="7250373" cy="68580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274014" y="-7116"/>
            <a:ext cx="936120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Future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98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604621" cy="25655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Emergency Response and Autonomous Driving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"/>
          <a:stretch/>
        </p:blipFill>
        <p:spPr>
          <a:xfrm>
            <a:off x="4941626" y="0"/>
            <a:ext cx="7250374" cy="685800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274014" y="-7116"/>
            <a:ext cx="936120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Future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174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3654081" cy="14037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Driver Profiling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4"/>
          <a:stretch/>
        </p:blipFill>
        <p:spPr>
          <a:xfrm>
            <a:off x="4941625" y="-1"/>
            <a:ext cx="7250375" cy="690349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274014" y="-7116"/>
            <a:ext cx="936120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Future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265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009083" cy="13391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Driver </a:t>
            </a:r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Feedback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347" y="0"/>
            <a:ext cx="7239786" cy="68580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274014" y="-7116"/>
            <a:ext cx="936120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Future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8893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009083" cy="13391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Cloud-Based Storage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82"/>
          <a:stretch/>
        </p:blipFill>
        <p:spPr>
          <a:xfrm>
            <a:off x="4926891" y="0"/>
            <a:ext cx="7286625" cy="68580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274014" y="-7116"/>
            <a:ext cx="936120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Future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681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8"/>
          <a:stretch/>
        </p:blipFill>
        <p:spPr>
          <a:xfrm>
            <a:off x="4983729" y="0"/>
            <a:ext cx="7226405" cy="6858000"/>
          </a:xfrm>
          <a:prstGeom prst="rect">
            <a:avLst/>
          </a:prstGeom>
        </p:spPr>
      </p:pic>
      <p:sp>
        <p:nvSpPr>
          <p:cNvPr id="30" name="Title 1"/>
          <p:cNvSpPr txBox="1">
            <a:spLocks/>
          </p:cNvSpPr>
          <p:nvPr/>
        </p:nvSpPr>
        <p:spPr>
          <a:xfrm>
            <a:off x="337006" y="478878"/>
            <a:ext cx="4009083" cy="13391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Internet of Things (IoT)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274014" y="-7116"/>
            <a:ext cx="936120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Future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5710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069" y="0"/>
            <a:ext cx="7197998" cy="68580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6" y="5895716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274014" y="-7116"/>
            <a:ext cx="936120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Future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sp>
        <p:nvSpPr>
          <p:cNvPr id="12" name="Title 1"/>
          <p:cNvSpPr txBox="1">
            <a:spLocks/>
          </p:cNvSpPr>
          <p:nvPr/>
        </p:nvSpPr>
        <p:spPr>
          <a:xfrm>
            <a:off x="337006" y="2105465"/>
            <a:ext cx="4646723" cy="21515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Wearable </a:t>
            </a:r>
            <a:r>
              <a:rPr lang="en-US" sz="20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Sensors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Sensor Fusion </a:t>
            </a:r>
            <a:r>
              <a:rPr lang="en-US" sz="20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Algorithm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Car's </a:t>
            </a:r>
            <a:r>
              <a:rPr lang="en-US" sz="20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Sensors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Data </a:t>
            </a:r>
            <a:r>
              <a:rPr lang="en-US" sz="20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Processing and Analysis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Artificial </a:t>
            </a:r>
            <a:r>
              <a:rPr lang="en-US" sz="20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Intelligence Algorithms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Real-time Insights</a:t>
            </a:r>
            <a:endParaRPr lang="en-US" sz="2000" b="1" dirty="0" smtClean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US" sz="20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337007" y="-7116"/>
            <a:ext cx="5676518" cy="19883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Sensor </a:t>
            </a:r>
            <a:endParaRPr lang="en-US" sz="4400" b="1" dirty="0" smtClean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Fusion </a:t>
            </a:r>
          </a:p>
          <a:p>
            <a:pPr algn="l"/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Technology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5451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0" y="-7116"/>
            <a:ext cx="12191999" cy="19883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Sensor </a:t>
            </a:r>
            <a:r>
              <a:rPr lang="en-US" sz="4400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Fusion Technology</a:t>
            </a:r>
            <a:endParaRPr lang="en-US" sz="44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1200"/>
            <a:ext cx="12192000" cy="48768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53" y="69558"/>
            <a:ext cx="2336693" cy="742987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11255879" y="6517797"/>
            <a:ext cx="936120" cy="393992"/>
            <a:chOff x="10937631" y="0"/>
            <a:chExt cx="1254370" cy="393992"/>
          </a:xfrm>
        </p:grpSpPr>
        <p:sp>
          <p:nvSpPr>
            <p:cNvPr id="31" name="Rectangle 30"/>
            <p:cNvSpPr/>
            <p:nvPr/>
          </p:nvSpPr>
          <p:spPr>
            <a:xfrm>
              <a:off x="10937631" y="0"/>
              <a:ext cx="1254369" cy="34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itle 1"/>
            <p:cNvSpPr txBox="1">
              <a:spLocks/>
            </p:cNvSpPr>
            <p:nvPr/>
          </p:nvSpPr>
          <p:spPr>
            <a:xfrm>
              <a:off x="10937631" y="44774"/>
              <a:ext cx="1254370" cy="34921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2000" b="1" dirty="0" smtClean="0">
                  <a:solidFill>
                    <a:srgbClr val="292E6B"/>
                  </a:solidFill>
                  <a:latin typeface="Cairo" pitchFamily="2" charset="-78"/>
                  <a:cs typeface="Cairo" pitchFamily="2" charset="-78"/>
                </a:rPr>
                <a:t>Future</a:t>
              </a:r>
              <a:endParaRPr lang="en-US" sz="2000" b="1" dirty="0">
                <a:solidFill>
                  <a:srgbClr val="292E6B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6004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5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0" y="2915323"/>
            <a:ext cx="12192000" cy="10185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Thanks…..</a:t>
            </a:r>
            <a:endParaRPr lang="en-US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998583" y="5893939"/>
            <a:ext cx="4194834" cy="744764"/>
            <a:chOff x="4927653" y="5893939"/>
            <a:chExt cx="4194834" cy="744764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7653" y="5895716"/>
              <a:ext cx="2336693" cy="742987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50409" y="5893939"/>
              <a:ext cx="1772078" cy="7447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987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2596</TotalTime>
  <Words>1114</Words>
  <Application>Microsoft Office PowerPoint</Application>
  <PresentationFormat>Widescreen</PresentationFormat>
  <Paragraphs>342</Paragraphs>
  <Slides>70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7" baseType="lpstr">
      <vt:lpstr>Arial</vt:lpstr>
      <vt:lpstr>Cairo</vt:lpstr>
      <vt:lpstr>Calibri</vt:lpstr>
      <vt:lpstr>Calibri Light</vt:lpstr>
      <vt:lpstr>Times New Roman</vt:lpstr>
      <vt:lpstr>Wingdings</vt:lpstr>
      <vt:lpstr>Office Theme</vt:lpstr>
      <vt:lpstr>Safe Driving System</vt:lpstr>
      <vt:lpstr>Supervisor</vt:lpstr>
      <vt:lpstr>Team Members</vt:lpstr>
      <vt:lpstr>Why Do We Need “Safe Driving System” ?</vt:lpstr>
      <vt:lpstr>Problem Statement</vt:lpstr>
      <vt:lpstr>Statistics On Deaths And Accidents</vt:lpstr>
      <vt:lpstr>The Need For A Solution !</vt:lpstr>
      <vt:lpstr>Introduction About The Safe Driving System</vt:lpstr>
      <vt:lpstr>Introduction About The Safe Driving System</vt:lpstr>
      <vt:lpstr>Introduction About The Safe Driving System</vt:lpstr>
      <vt:lpstr>Introduction About The Safe Driving System</vt:lpstr>
      <vt:lpstr>Project Overview</vt:lpstr>
      <vt:lpstr>Outlines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Digital  input/output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Driving System</dc:title>
  <dc:creator>يوسف سامح محمد مدين رمضان</dc:creator>
  <cp:lastModifiedBy>يوسف سامح محمد مدين رمضان</cp:lastModifiedBy>
  <cp:revision>268</cp:revision>
  <dcterms:created xsi:type="dcterms:W3CDTF">2023-06-29T17:23:06Z</dcterms:created>
  <dcterms:modified xsi:type="dcterms:W3CDTF">2023-07-15T09:51:49Z</dcterms:modified>
</cp:coreProperties>
</file>